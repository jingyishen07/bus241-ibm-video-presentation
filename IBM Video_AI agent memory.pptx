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7"/>
    <p:restoredTop sz="94667"/>
  </p:normalViewPr>
  <p:slideViewPr>
    <p:cSldViewPr snapToGrid="0">
      <p:cViewPr varScale="1">
        <p:scale>
          <a:sx n="137" d="100"/>
          <a:sy n="137" d="100"/>
        </p:scale>
        <p:origin x="224" y="1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types of AI agent memory</a:t>
            </a:r>
          </a:p>
          <a:p>
            <a:r>
              <a:t>0:00–0:35 (35 seconds)</a:t>
            </a:r>
          </a:p>
          <a:p>
            <a:endParaRPr/>
          </a:p>
          <a:p>
            <a:r>
              <a:t>For this lecture, I'll use ChatGPT as the example of an AI agent. The task is planning five dinners for two people. We'll assume ChatGPT can use saved preferences, relevant past interactions and a reusable meal-planning workflow.</a:t>
            </a:r>
          </a:p>
          <a:p>
            <a:endParaRPr/>
          </a:p>
          <a:p>
            <a:r>
              <a:t>The IBM video explains four types of memory using a framework called CoALA. Each type has a different job. We'll use the same dinner-planning example throughout, so it's easier to see what each type contributes.</a:t>
            </a:r>
          </a:p>
          <a:p>
            <a:endParaRPr/>
          </a:p>
          <a:p>
            <a:r>
              <a:t>Sources</a:t>
            </a:r>
          </a:p>
          <a:p>
            <a:r>
              <a:t>IBM Technology, Martin Keen, The Four Types of Memory Every AI Agent Needs, https://www.youtube.com/watch?v=BacJ6sEhqMo. Framework: Sumers et al., Cognitive Architectures for Language Agents, https://arxiv.org/html/2309.02427v3. The dinner-planning scenario is illustrative; it assumes access to saved memory, relevant earlier context and a reusable workflow. The categories describe information roles, not a verified account of ChatGPT internal storage. Official OpenAI documentation, Memories: https://learn.chatgpt.com/docs/customization/memories. ChatGPT uses the memory settings available to the account and workspace.</a:t>
            </a:r>
          </a:p>
          <a:p>
            <a:r>
              <a:t>Original video: https://www.youtube.com/watch?v=BacJ6sEhqMo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Working memory</a:t>
            </a:r>
          </a:p>
          <a:p>
            <a:r>
              <a:t>0:35–1:25 (50 seconds)</a:t>
            </a:r>
          </a:p>
          <a:p>
            <a:endParaRPr/>
          </a:p>
          <a:p>
            <a:r>
              <a:t>First is working memory. This is the information ChatGPT can use in the current conversation, inside its context window. It includes your request, the messages available in the chat, and any files or tool results brought into the context.</a:t>
            </a:r>
          </a:p>
          <a:p>
            <a:endParaRPr/>
          </a:p>
          <a:p>
            <a:r>
              <a:t>For our example, you ask for five dinners for two people. Then you add that you already have rice, beans and tomatoes. Those details help ChatGPT build this week's plan.</a:t>
            </a:r>
          </a:p>
          <a:p>
            <a:endParaRPr/>
          </a:p>
          <a:p>
            <a:r>
              <a:t>Working memory has limited space. Filling it with extra material can make useful details harder to use. In a future chat, earlier information needs to be available through saved memory, history or context you provide.</a:t>
            </a:r>
          </a:p>
          <a:p>
            <a:endParaRPr/>
          </a:p>
          <a:p>
            <a:r>
              <a:t>Sources</a:t>
            </a:r>
          </a:p>
          <a:p>
            <a:r>
              <a:t>IBM Technology, Martin Keen, The Four Types of Memory Every AI Agent Needs, https://www.youtube.com/watch?v=BacJ6sEhqMo. Framework: Sumers et al., Cognitive Architectures for Language Agents, https://arxiv.org/html/2309.02427v3. The dinner-planning scenario is illustrative; it assumes access to saved memory, relevant earlier context and a reusable workflow. The categories describe information roles, not a verified account of ChatGPT internal storage. Official OpenAI documentation, Memories: https://learn.chatgpt.com/docs/customization/memories. ChatGPT uses the memory settings available to the account and workspace.</a:t>
            </a:r>
          </a:p>
          <a:p>
            <a:r>
              <a:t>Original video: https://www.youtube.com/watch?v=BacJ6sEhqMo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Semantic memory</a:t>
            </a:r>
          </a:p>
          <a:p>
            <a:r>
              <a:t>1:25–2:10 (45 seconds)</a:t>
            </a:r>
          </a:p>
          <a:p>
            <a:endParaRPr/>
          </a:p>
          <a:p>
            <a:r>
              <a:t>Second is semantic memory. This holds facts and general knowledge that can be reused across tasks.</a:t>
            </a:r>
          </a:p>
          <a:p>
            <a:endParaRPr/>
          </a:p>
          <a:p>
            <a:r>
              <a:t>For example, suppose ChatGPT has a saved preference that you're vegetarian and usually cook for two. Those facts can help with future dinner plans, so you don't have to explain them each time.</a:t>
            </a:r>
          </a:p>
          <a:p>
            <a:endParaRPr/>
          </a:p>
          <a:p>
            <a:r>
              <a:t>The important distinction is what the information describes. Being vegetarian is a general fact about the person. It doesn't describe one particular past dinner plan.</a:t>
            </a:r>
          </a:p>
          <a:p>
            <a:endParaRPr/>
          </a:p>
          <a:p>
            <a:r>
              <a:t>When ChatGPT brings a relevant saved fact into the current context, that fact also becomes available in working memory. The memory types work together.</a:t>
            </a:r>
          </a:p>
          <a:p>
            <a:endParaRPr/>
          </a:p>
          <a:p>
            <a:r>
              <a:t>Sources</a:t>
            </a:r>
          </a:p>
          <a:p>
            <a:r>
              <a:t>IBM Technology, Martin Keen, The Four Types of Memory Every AI Agent Needs, https://www.youtube.com/watch?v=BacJ6sEhqMo. Framework: Sumers et al., Cognitive Architectures for Language Agents, https://arxiv.org/html/2309.02427v3. The dinner-planning scenario is illustrative; it assumes access to saved memory, relevant earlier context and a reusable workflow. The categories describe information roles, not a verified account of ChatGPT internal storage. Official OpenAI documentation, Memories: https://learn.chatgpt.com/docs/customization/memories. ChatGPT uses the memory settings available to the account and workspace.</a:t>
            </a:r>
          </a:p>
          <a:p>
            <a:r>
              <a:t>Original video: https://www.youtube.com/watch?v=BacJ6sEhqMo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Procedural memory</a:t>
            </a:r>
          </a:p>
          <a:p>
            <a:r>
              <a:t>2:10–3:05 (55 seconds)</a:t>
            </a:r>
          </a:p>
          <a:p>
            <a:endParaRPr/>
          </a:p>
          <a:p>
            <a:r>
              <a:t>Third is procedural memory. This is the reusable method for carrying out a task.</a:t>
            </a:r>
          </a:p>
          <a:p>
            <a:endParaRPr/>
          </a:p>
          <a:p>
            <a:r>
              <a:t>For meal planning, we could give ChatGPT a workflow: check the person's preferences, select five dinners, group ingredients that the meals share, and produce one shopping list. That method can be reused next week.</a:t>
            </a:r>
          </a:p>
          <a:p>
            <a:endParaRPr/>
          </a:p>
          <a:p>
            <a:r>
              <a:t>The video describes skills as one way to package a method. A skill can contain instructions and supporting resources.</a:t>
            </a:r>
          </a:p>
          <a:p>
            <a:endParaRPr/>
          </a:p>
          <a:p>
            <a:r>
              <a:t>ChatGPT can use an available skill that matches the task. It can see a short description first, then load detailed instructions when needed. This is called progressive disclosure. It helps preserve room in working memory instead of loading every possible guide at once.</a:t>
            </a:r>
          </a:p>
          <a:p>
            <a:endParaRPr/>
          </a:p>
          <a:p>
            <a:r>
              <a:t>Sources</a:t>
            </a:r>
          </a:p>
          <a:p>
            <a:r>
              <a:t>IBM Technology, Martin Keen, The Four Types of Memory Every AI Agent Needs, https://www.youtube.com/watch?v=BacJ6sEhqMo. Framework: Sumers et al., Cognitive Architectures for Language Agents, https://arxiv.org/html/2309.02427v3. The dinner-planning scenario is illustrative; it assumes access to saved memory, relevant earlier context and a reusable workflow. The categories describe information roles, not a verified account of ChatGPT internal storage. Official OpenAI documentation, Skills and Plugins: https://learn.chatgpt.com/docs/skills-and-plugins. Skills package reusable task instructions and resources; an appropriate skill must be available.</a:t>
            </a:r>
          </a:p>
          <a:p>
            <a:r>
              <a:t>Original video: https://www.youtube.com/watch?v=BacJ6sEhqMo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Episodic memory</a:t>
            </a:r>
          </a:p>
          <a:p>
            <a:r>
              <a:t>3:05–4:05 (60 seconds)</a:t>
            </a:r>
          </a:p>
          <a:p>
            <a:endParaRPr/>
          </a:p>
          <a:p>
            <a:r>
              <a:t>Fourth is episodic memory. This records a specific past experience, including what happened and the outcome.</a:t>
            </a:r>
          </a:p>
          <a:p>
            <a:endParaRPr/>
          </a:p>
          <a:p>
            <a:r>
              <a:t>Suppose last week's dinner plan took too long to cook, and the user asked for simpler meals. A useful record could say that the previous plan required too much preparation on work nights.</a:t>
            </a:r>
          </a:p>
          <a:p>
            <a:endParaRPr/>
          </a:p>
          <a:p>
            <a:r>
              <a:t>When that experience is available later, ChatGPT can use it to make the next plan more practical. It has a record of how the earlier suggestion worked out.</a:t>
            </a:r>
          </a:p>
          <a:p>
            <a:endParaRPr/>
          </a:p>
          <a:p>
            <a:r>
              <a:t>This doesn't require saving every word of the conversation. A short, useful summary may be easier to reuse. Old notes also need updating when circumstances change. And using saved information doesn't, by itself, mean the underlying model has been retrained.</a:t>
            </a:r>
          </a:p>
          <a:p>
            <a:endParaRPr/>
          </a:p>
          <a:p>
            <a:r>
              <a:t>Sources</a:t>
            </a:r>
          </a:p>
          <a:p>
            <a:r>
              <a:t>IBM Technology, Martin Keen, The Four Types of Memory Every AI Agent Needs, https://www.youtube.com/watch?v=BacJ6sEhqMo. Framework: Sumers et al., Cognitive Architectures for Language Agents, https://arxiv.org/html/2309.02427v3. The dinner-planning scenario is illustrative; it assumes access to saved memory, relevant earlier context and a reusable workflow. The categories describe information roles, not a verified account of ChatGPT internal storage. Official OpenAI documentation, Memories: https://learn.chatgpt.com/docs/customization/memories. ChatGPT uses the memory settings available to the account and workspace.</a:t>
            </a:r>
          </a:p>
          <a:p>
            <a:r>
              <a:t>Original video: https://www.youtube.com/watch?v=BacJ6sEhqMo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Persistent memory in practice</a:t>
            </a:r>
          </a:p>
          <a:p>
            <a:r>
              <a:t>4:05–5:00 (55 seconds)</a:t>
            </a:r>
          </a:p>
          <a:p>
            <a:endParaRPr/>
          </a:p>
          <a:p>
            <a:r>
              <a:t>In practice, persistent memory can be as simple as a Markdown file, which is just a text file with basic formatting.</a:t>
            </a:r>
          </a:p>
          <a:p>
            <a:endParaRPr/>
          </a:p>
          <a:p>
            <a:r>
              <a:t>For a coding project, it can list the project structure, coding rules and commands for building the software. The agent reads this file at the start of a session, so it has that background before it starts working.</a:t>
            </a:r>
          </a:p>
          <a:p>
            <a:endParaRPr/>
          </a:p>
          <a:p>
            <a:r>
              <a:t>Other systems use vector databases or knowledge graphs to store knowledge.</a:t>
            </a:r>
          </a:p>
          <a:p>
            <a:endParaRPr/>
          </a:p>
          <a:p>
            <a:r>
              <a:t>The storage method can vary. What's important here is that the information stays available between sessions, and the agent can bring it into the current context when needed.</a:t>
            </a:r>
          </a:p>
          <a:p>
            <a:endParaRPr/>
          </a:p>
          <a:p>
            <a:r>
              <a:t>Sources</a:t>
            </a:r>
          </a:p>
          <a:p>
            <a:r>
              <a:t>IBM Technology, Martin Keen, The Four Types of Memory Every AI Agent Needs, 3:13–4:51, https://www.youtube.com/watch?v=BacJ6sEhqMo&amp;t=193s. The video demonstrates project knowledge stored in a CLAUDE.md file in Claude Code. This slide describes that coding-agent example generally and does not claim ChatGPT automatically reads such files. Supporting primary documentation: How Claude remembers your project, https://code.claude.com/docs/en/memory. CoALA sections 4.1 and 4.3, https://arxiv.org/html/2309.02427v3. Captions checked against the original-video transcript reproduced at https://ainotes.us/summary/the-four-types-of-memory-every-ai-agent-needs.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Memory needs depend on the task</a:t>
            </a:r>
          </a:p>
          <a:p>
            <a:r>
              <a:rPr dirty="0"/>
              <a:t>5:00–6:00 (60 seconds)</a:t>
            </a:r>
          </a:p>
          <a:p>
            <a:endParaRPr dirty="0"/>
          </a:p>
          <a:p>
            <a:r>
              <a:rPr dirty="0"/>
              <a:t>Different agents also need different combinations of memory. A simple routing agent may only need the current input to decide where something goes, so working memory can be enough.</a:t>
            </a:r>
          </a:p>
          <a:p>
            <a:endParaRPr dirty="0"/>
          </a:p>
          <a:p>
            <a:r>
              <a:rPr dirty="0"/>
              <a:t>A password-reset agent needs the user's request and the steps for handling it. That gives it working memory for the current case and procedural memory for the reset process.</a:t>
            </a:r>
          </a:p>
          <a:p>
            <a:endParaRPr dirty="0"/>
          </a:p>
          <a:p>
            <a:r>
              <a:rPr dirty="0"/>
              <a:t>A coding agent has a broader job. It may need all four: current context, project knowledge, reusable skills, and experience from earlier sessions. So the memory setup should match the kind of work the agent needs to do.</a:t>
            </a:r>
          </a:p>
          <a:p>
            <a:endParaRPr dirty="0"/>
          </a:p>
          <a:p>
            <a:r>
              <a:rPr dirty="0"/>
              <a:t>Sources</a:t>
            </a:r>
          </a:p>
          <a:p>
            <a:r>
              <a:rPr dirty="0"/>
              <a:t>IBM Technology, Martin Keen, The Four Types of Memory Every AI Agent Needs, 8:17–9:49, https://</a:t>
            </a:r>
            <a:r>
              <a:rPr dirty="0" err="1"/>
              <a:t>www.youtube.com</a:t>
            </a:r>
            <a:r>
              <a:rPr dirty="0"/>
              <a:t>/</a:t>
            </a:r>
            <a:r>
              <a:rPr dirty="0" err="1"/>
              <a:t>watch?v</a:t>
            </a:r>
            <a:r>
              <a:rPr dirty="0"/>
              <a:t>=BacJ6sEhqMo&amp;t=497s. The routing, password-reset and coding-agent examples come from this section. These are illustrative memory needs, not mandatory or exhaustive architectures for every agent in each category. </a:t>
            </a:r>
            <a:r>
              <a:rPr dirty="0" err="1"/>
              <a:t>CoALA</a:t>
            </a:r>
            <a:r>
              <a:rPr dirty="0"/>
              <a:t> section 6 also discusses choosing memory modules for the task, https://</a:t>
            </a:r>
            <a:r>
              <a:rPr dirty="0" err="1"/>
              <a:t>arxiv.org</a:t>
            </a:r>
            <a:r>
              <a:rPr dirty="0"/>
              <a:t>/html/2309.02427v3. Captions checked against the original-video transcript reproduced at https://</a:t>
            </a:r>
            <a:r>
              <a:rPr dirty="0" err="1"/>
              <a:t>ainotes.us</a:t>
            </a:r>
            <a:r>
              <a:rPr dirty="0"/>
              <a:t>/summary/the-four-types-of-memory-every-ai-agent-needs.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2A9D987-76D1-47F1-900F-5BF97DF2A37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3992EFC-9A2E-4A0F-889D-89BB4546E7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A689BBB-C334-4175-B087-745ED72293A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862800-3449-4326-8A2E-EFFF1C291F9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3106670-4A85-4CE3-B6DD-DE42A8CDAE8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067634E-545B-4EF9-B5B9-5806EB326CB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74A43EF-D82B-4CA1-A384-75F46F22A8D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22A470C7-B289-4536-9CC1-33B97B7E11A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5092B05-A6C3-4EAD-BC07-C1135D18D0E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8B8C84A-8214-496C-A4F6-96534E2E9AF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D94699C-422C-4042-9DEA-20F91D98B049}"/>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lang="en-US" sz="3600" b="1" dirty="0">
                <a:solidFill>
                  <a:srgbClr val="FFFFFF"/>
                </a:solidFill>
                <a:latin typeface="DejaVu Sans"/>
                <a:ea typeface="DejaVu Sans"/>
                <a:cs typeface="DejaVu Sans"/>
              </a:rPr>
              <a:t>How AI agents remember</a:t>
            </a:r>
            <a:endParaRPr sz="3600" b="1" dirty="0">
              <a:solidFill>
                <a:srgbClr val="FFFFFF"/>
              </a:solidFill>
              <a:latin typeface="DejaVu Sans"/>
              <a:ea typeface="DejaVu Sans"/>
              <a:cs typeface="DejaVu Sans"/>
            </a:endParaRPr>
          </a:p>
        </p:txBody>
      </p:sp>
      <p:sp>
        <p:nvSpPr>
          <p:cNvPr id="2" name="definition">
            <a:extLst>
              <a:ext uri="{FF2B5EF4-FFF2-40B4-BE49-F238E27FC236}">
                <a16:creationId xmlns:a16="http://schemas.microsoft.com/office/drawing/2014/main" id="{E410385C-B21B-46B3-9E79-AF940553EC91}"/>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lang="en-US" sz="2325" b="1" dirty="0">
                <a:solidFill>
                  <a:srgbClr val="FFFFFF"/>
                </a:solidFill>
                <a:latin typeface="DejaVu Sans"/>
                <a:ea typeface="DejaVu Sans"/>
                <a:cs typeface="DejaVu Sans"/>
              </a:rPr>
              <a:t>The </a:t>
            </a:r>
            <a:r>
              <a:rPr lang="en-US" sz="2325" b="1" dirty="0" err="1">
                <a:solidFill>
                  <a:srgbClr val="FFFFFF"/>
                </a:solidFill>
                <a:latin typeface="DejaVu Sans"/>
                <a:ea typeface="DejaVu Sans"/>
                <a:cs typeface="DejaVu Sans"/>
              </a:rPr>
              <a:t>CoALA</a:t>
            </a:r>
            <a:r>
              <a:rPr lang="en-US" sz="2325" b="1" dirty="0">
                <a:solidFill>
                  <a:srgbClr val="FFFFFF"/>
                </a:solidFill>
                <a:latin typeface="DejaVu Sans"/>
                <a:ea typeface="DejaVu Sans"/>
                <a:cs typeface="DejaVu Sans"/>
              </a:rPr>
              <a:t> framework for memory in language agents</a:t>
            </a:r>
            <a:endParaRPr sz="2325" b="1" dirty="0">
              <a:solidFill>
                <a:srgbClr val="FFFFFF"/>
              </a:solidFill>
              <a:latin typeface="DejaVu Sans"/>
              <a:ea typeface="DejaVu Sans"/>
              <a:cs typeface="DejaVu Sans"/>
            </a:endParaRPr>
          </a:p>
        </p:txBody>
      </p:sp>
      <p:sp>
        <p:nvSpPr>
          <p:cNvPr id="3" name="opening">
            <a:extLst>
              <a:ext uri="{FF2B5EF4-FFF2-40B4-BE49-F238E27FC236}">
                <a16:creationId xmlns:a16="http://schemas.microsoft.com/office/drawing/2014/main" id="{12F465C4-DCBE-46AE-88C9-C79B85079542}"/>
              </a:ext>
            </a:extLst>
          </p:cNvPr>
          <p:cNvSpPr>
            <a:spLocks noGrp="1"/>
          </p:cNvSpPr>
          <p:nvPr/>
        </p:nvSpPr>
        <p:spPr>
          <a:xfrm>
            <a:off x="609600" y="2343150"/>
            <a:ext cx="10972800" cy="1066800"/>
          </a:xfrm>
          <a:prstGeom prst="rect">
            <a:avLst/>
          </a:prstGeom>
          <a:noFill/>
          <a:ln w="0">
            <a:noFill/>
            <a:prstDash val="solid"/>
          </a:ln>
        </p:spPr>
        <p:txBody>
          <a:bodyPr wrap="square" lIns="0" tIns="0" rIns="0" bIns="0" anchor="t">
            <a:noAutofit/>
          </a:bodyPr>
          <a:lstStyle>
            <a:defPPr>
              <a:defRPr sz="2100" b="0">
                <a:solidFill>
                  <a:srgbClr val="FFFFFF"/>
                </a:solidFill>
                <a:latin typeface="DejaVu Sans"/>
                <a:ea typeface="DejaVu Sans"/>
                <a:cs typeface="DejaVu Sans"/>
              </a:defRPr>
            </a:defPPr>
            <a:lvl1pPr>
              <a:defRPr sz="2100" b="0">
                <a:solidFill>
                  <a:srgbClr val="FFFFFF"/>
                </a:solidFill>
                <a:latin typeface="DejaVu Sans"/>
                <a:ea typeface="DejaVu Sans"/>
                <a:cs typeface="DejaVu Sans"/>
              </a:defRPr>
            </a:lvl1pPr>
            <a:lvl2pPr>
              <a:defRPr sz="2100" b="0">
                <a:solidFill>
                  <a:srgbClr val="FFFFFF"/>
                </a:solidFill>
                <a:latin typeface="DejaVu Sans"/>
                <a:ea typeface="DejaVu Sans"/>
                <a:cs typeface="DejaVu Sans"/>
              </a:defRPr>
            </a:lvl2pPr>
            <a:lvl3pPr>
              <a:defRPr sz="2100" b="0">
                <a:solidFill>
                  <a:srgbClr val="FFFFFF"/>
                </a:solidFill>
                <a:latin typeface="DejaVu Sans"/>
                <a:ea typeface="DejaVu Sans"/>
                <a:cs typeface="DejaVu Sans"/>
              </a:defRPr>
            </a:lvl3pPr>
            <a:lvl4pPr>
              <a:defRPr sz="2100" b="0">
                <a:solidFill>
                  <a:srgbClr val="FFFFFF"/>
                </a:solidFill>
                <a:latin typeface="DejaVu Sans"/>
                <a:ea typeface="DejaVu Sans"/>
                <a:cs typeface="DejaVu Sans"/>
              </a:defRPr>
            </a:lvl4pPr>
            <a:lvl5pPr>
              <a:defRPr sz="2100" b="0">
                <a:solidFill>
                  <a:srgbClr val="FFFFFF"/>
                </a:solidFill>
                <a:latin typeface="DejaVu Sans"/>
                <a:ea typeface="DejaVu Sans"/>
                <a:cs typeface="DejaVu Sans"/>
              </a:defRPr>
            </a:lvl5pPr>
            <a:lvl6pPr>
              <a:defRPr sz="2100" b="0">
                <a:solidFill>
                  <a:srgbClr val="FFFFFF"/>
                </a:solidFill>
                <a:latin typeface="DejaVu Sans"/>
                <a:ea typeface="DejaVu Sans"/>
                <a:cs typeface="DejaVu Sans"/>
              </a:defRPr>
            </a:lvl6pPr>
            <a:lvl7pPr>
              <a:defRPr sz="2100" b="0">
                <a:solidFill>
                  <a:srgbClr val="FFFFFF"/>
                </a:solidFill>
                <a:latin typeface="DejaVu Sans"/>
                <a:ea typeface="DejaVu Sans"/>
                <a:cs typeface="DejaVu Sans"/>
              </a:defRPr>
            </a:lvl7pPr>
            <a:lvl8pPr>
              <a:defRPr sz="2100" b="0">
                <a:solidFill>
                  <a:srgbClr val="FFFFFF"/>
                </a:solidFill>
                <a:latin typeface="DejaVu Sans"/>
                <a:ea typeface="DejaVu Sans"/>
                <a:cs typeface="DejaVu Sans"/>
              </a:defRPr>
            </a:lvl8pPr>
            <a:lvl9pPr>
              <a:defRPr sz="2100" b="0">
                <a:solidFill>
                  <a:srgbClr val="FFFFFF"/>
                </a:solidFill>
                <a:latin typeface="DejaVu Sans"/>
                <a:ea typeface="DejaVu Sans"/>
                <a:cs typeface="DejaVu Sans"/>
              </a:defRPr>
            </a:lvl9pPr>
          </a:lstStyle>
          <a:p>
            <a:pPr>
              <a:defRPr sz="2100" b="0">
                <a:solidFill>
                  <a:srgbClr val="FFFFFF"/>
                </a:solidFill>
                <a:latin typeface="DejaVu Sans"/>
                <a:ea typeface="DejaVu Sans"/>
                <a:cs typeface="DejaVu Sans"/>
              </a:defRPr>
            </a:pPr>
            <a:r>
              <a:rPr lang="en-US" sz="2100" b="0" dirty="0" err="1">
                <a:solidFill>
                  <a:srgbClr val="FFFFFF"/>
                </a:solidFill>
                <a:latin typeface="DejaVu Sans"/>
                <a:ea typeface="DejaVu Sans"/>
                <a:cs typeface="DejaVu Sans"/>
              </a:rPr>
              <a:t>CoALA</a:t>
            </a:r>
            <a:r>
              <a:rPr lang="en-US" sz="2100" b="0" dirty="0">
                <a:solidFill>
                  <a:srgbClr val="FFFFFF"/>
                </a:solidFill>
                <a:latin typeface="DejaVu Sans"/>
                <a:ea typeface="DejaVu Sans"/>
                <a:cs typeface="DejaVu Sans"/>
              </a:rPr>
              <a:t> = Cognitive Architectures for Language Agents</a:t>
            </a:r>
            <a:endParaRPr sz="2100" b="0" dirty="0">
              <a:solidFill>
                <a:srgbClr val="FFFFFF"/>
              </a:solidFill>
              <a:latin typeface="DejaVu Sans"/>
              <a:ea typeface="DejaVu Sans"/>
              <a:cs typeface="DejaVu Sans"/>
            </a:endParaRPr>
          </a:p>
        </p:txBody>
      </p:sp>
      <p:sp>
        <p:nvSpPr>
          <p:cNvPr id="4" name="type-0">
            <a:extLst>
              <a:ext uri="{FF2B5EF4-FFF2-40B4-BE49-F238E27FC236}">
                <a16:creationId xmlns:a16="http://schemas.microsoft.com/office/drawing/2014/main" id="{F72A6E5C-3C72-4873-BA04-1A1CFD2B6F8E}"/>
              </a:ext>
            </a:extLst>
          </p:cNvPr>
          <p:cNvSpPr>
            <a:spLocks noGrp="1"/>
          </p:cNvSpPr>
          <p:nvPr/>
        </p:nvSpPr>
        <p:spPr>
          <a:xfrm>
            <a:off x="609600" y="3733800"/>
            <a:ext cx="2076450" cy="457200"/>
          </a:xfrm>
          <a:prstGeom prst="rect">
            <a:avLst/>
          </a:prstGeom>
          <a:noFill/>
          <a:ln w="0">
            <a:noFill/>
            <a:prstDash val="solid"/>
          </a:ln>
        </p:spPr>
        <p:txBody>
          <a:bodyPr wrap="square" lIns="0" tIns="0" rIns="0" bIns="0" anchor="t">
            <a:noAutofit/>
          </a:bodyPr>
          <a:lstStyle>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Working</a:t>
            </a:r>
          </a:p>
        </p:txBody>
      </p:sp>
      <p:sp>
        <p:nvSpPr>
          <p:cNvPr id="5" name="role-0">
            <a:extLst>
              <a:ext uri="{FF2B5EF4-FFF2-40B4-BE49-F238E27FC236}">
                <a16:creationId xmlns:a16="http://schemas.microsoft.com/office/drawing/2014/main" id="{C37681F4-C964-43A7-81AB-12DDB723D02E}"/>
              </a:ext>
            </a:extLst>
          </p:cNvPr>
          <p:cNvSpPr>
            <a:spLocks noGrp="1"/>
          </p:cNvSpPr>
          <p:nvPr/>
        </p:nvSpPr>
        <p:spPr>
          <a:xfrm>
            <a:off x="2847975" y="3733800"/>
            <a:ext cx="8734425" cy="609600"/>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lang="en-US" sz="1950" b="0" dirty="0">
                <a:solidFill>
                  <a:srgbClr val="FFFFFF"/>
                </a:solidFill>
                <a:latin typeface="DejaVu Sans"/>
                <a:ea typeface="DejaVu Sans"/>
                <a:cs typeface="DejaVu Sans"/>
              </a:rPr>
              <a:t>Current context window</a:t>
            </a:r>
            <a:endParaRPr sz="1950" b="0" dirty="0">
              <a:solidFill>
                <a:srgbClr val="FFFFFF"/>
              </a:solidFill>
              <a:latin typeface="DejaVu Sans"/>
              <a:ea typeface="DejaVu Sans"/>
              <a:cs typeface="DejaVu Sans"/>
            </a:endParaRPr>
          </a:p>
        </p:txBody>
      </p:sp>
      <p:sp>
        <p:nvSpPr>
          <p:cNvPr id="6" name="type-1">
            <a:extLst>
              <a:ext uri="{FF2B5EF4-FFF2-40B4-BE49-F238E27FC236}">
                <a16:creationId xmlns:a16="http://schemas.microsoft.com/office/drawing/2014/main" id="{997A093D-A030-476C-B4C7-8CBE9106E683}"/>
              </a:ext>
            </a:extLst>
          </p:cNvPr>
          <p:cNvSpPr>
            <a:spLocks noGrp="1"/>
          </p:cNvSpPr>
          <p:nvPr/>
        </p:nvSpPr>
        <p:spPr>
          <a:xfrm>
            <a:off x="609600" y="4362450"/>
            <a:ext cx="2076450" cy="457200"/>
          </a:xfrm>
          <a:prstGeom prst="rect">
            <a:avLst/>
          </a:prstGeom>
          <a:noFill/>
          <a:ln w="0">
            <a:noFill/>
            <a:prstDash val="solid"/>
          </a:ln>
        </p:spPr>
        <p:txBody>
          <a:bodyPr wrap="square" lIns="0" tIns="0" rIns="0" bIns="0" anchor="t">
            <a:noAutofit/>
          </a:bodyPr>
          <a:lstStyle>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Semantic</a:t>
            </a:r>
          </a:p>
        </p:txBody>
      </p:sp>
      <p:sp>
        <p:nvSpPr>
          <p:cNvPr id="7" name="role-1">
            <a:extLst>
              <a:ext uri="{FF2B5EF4-FFF2-40B4-BE49-F238E27FC236}">
                <a16:creationId xmlns:a16="http://schemas.microsoft.com/office/drawing/2014/main" id="{0A37BE4E-D85F-4382-93AB-C31A31030203}"/>
              </a:ext>
            </a:extLst>
          </p:cNvPr>
          <p:cNvSpPr>
            <a:spLocks noGrp="1"/>
          </p:cNvSpPr>
          <p:nvPr/>
        </p:nvSpPr>
        <p:spPr>
          <a:xfrm>
            <a:off x="2847975" y="4362450"/>
            <a:ext cx="8734425" cy="609600"/>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lang="en-US" sz="1950" b="0" dirty="0">
                <a:solidFill>
                  <a:srgbClr val="FFFFFF"/>
                </a:solidFill>
                <a:latin typeface="DejaVu Sans"/>
                <a:ea typeface="DejaVu Sans"/>
                <a:cs typeface="DejaVu Sans"/>
              </a:rPr>
              <a:t>Facts and general knowledge that remain useful across tasks</a:t>
            </a:r>
            <a:endParaRPr sz="1950" b="0" dirty="0">
              <a:solidFill>
                <a:srgbClr val="FFFFFF"/>
              </a:solidFill>
              <a:latin typeface="DejaVu Sans"/>
              <a:ea typeface="DejaVu Sans"/>
              <a:cs typeface="DejaVu Sans"/>
            </a:endParaRPr>
          </a:p>
        </p:txBody>
      </p:sp>
      <p:sp>
        <p:nvSpPr>
          <p:cNvPr id="8" name="type-2">
            <a:extLst>
              <a:ext uri="{FF2B5EF4-FFF2-40B4-BE49-F238E27FC236}">
                <a16:creationId xmlns:a16="http://schemas.microsoft.com/office/drawing/2014/main" id="{E6D24F80-FBA1-48A6-A0F9-D1866B7547F2}"/>
              </a:ext>
            </a:extLst>
          </p:cNvPr>
          <p:cNvSpPr>
            <a:spLocks noGrp="1"/>
          </p:cNvSpPr>
          <p:nvPr/>
        </p:nvSpPr>
        <p:spPr>
          <a:xfrm>
            <a:off x="609600" y="4991100"/>
            <a:ext cx="2076450" cy="457200"/>
          </a:xfrm>
          <a:prstGeom prst="rect">
            <a:avLst/>
          </a:prstGeom>
          <a:noFill/>
          <a:ln w="0">
            <a:noFill/>
            <a:prstDash val="solid"/>
          </a:ln>
        </p:spPr>
        <p:txBody>
          <a:bodyPr wrap="square" lIns="0" tIns="0" rIns="0" bIns="0" anchor="t">
            <a:noAutofit/>
          </a:bodyPr>
          <a:lstStyle>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Procedural</a:t>
            </a:r>
          </a:p>
        </p:txBody>
      </p:sp>
      <p:sp>
        <p:nvSpPr>
          <p:cNvPr id="9" name="role-2">
            <a:extLst>
              <a:ext uri="{FF2B5EF4-FFF2-40B4-BE49-F238E27FC236}">
                <a16:creationId xmlns:a16="http://schemas.microsoft.com/office/drawing/2014/main" id="{123E6DC6-78AA-44C6-9519-E11D033267B2}"/>
              </a:ext>
            </a:extLst>
          </p:cNvPr>
          <p:cNvSpPr>
            <a:spLocks noGrp="1"/>
          </p:cNvSpPr>
          <p:nvPr/>
        </p:nvSpPr>
        <p:spPr>
          <a:xfrm>
            <a:off x="2847975" y="4991100"/>
            <a:ext cx="8734425" cy="609600"/>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lang="en-US" sz="1950" b="0" dirty="0">
                <a:solidFill>
                  <a:srgbClr val="FFFFFF"/>
                </a:solidFill>
                <a:latin typeface="DejaVu Sans"/>
                <a:ea typeface="DejaVu Sans"/>
                <a:cs typeface="DejaVu Sans"/>
              </a:rPr>
              <a:t>Reusable skills, pulled in during a task when necessary </a:t>
            </a:r>
            <a:endParaRPr sz="1950" b="0" dirty="0">
              <a:solidFill>
                <a:srgbClr val="FFFFFF"/>
              </a:solidFill>
              <a:latin typeface="DejaVu Sans"/>
              <a:ea typeface="DejaVu Sans"/>
              <a:cs typeface="DejaVu Sans"/>
            </a:endParaRPr>
          </a:p>
        </p:txBody>
      </p:sp>
      <p:sp>
        <p:nvSpPr>
          <p:cNvPr id="10" name="type-3">
            <a:extLst>
              <a:ext uri="{FF2B5EF4-FFF2-40B4-BE49-F238E27FC236}">
                <a16:creationId xmlns:a16="http://schemas.microsoft.com/office/drawing/2014/main" id="{931C23EA-E7CB-4CB9-9851-9E9782B0E200}"/>
              </a:ext>
            </a:extLst>
          </p:cNvPr>
          <p:cNvSpPr>
            <a:spLocks noGrp="1"/>
          </p:cNvSpPr>
          <p:nvPr/>
        </p:nvSpPr>
        <p:spPr>
          <a:xfrm>
            <a:off x="609600" y="5619750"/>
            <a:ext cx="2076450" cy="457200"/>
          </a:xfrm>
          <a:prstGeom prst="rect">
            <a:avLst/>
          </a:prstGeom>
          <a:noFill/>
          <a:ln w="0">
            <a:noFill/>
            <a:prstDash val="solid"/>
          </a:ln>
        </p:spPr>
        <p:txBody>
          <a:bodyPr wrap="square" lIns="0" tIns="0" rIns="0" bIns="0" anchor="t">
            <a:noAutofit/>
          </a:bodyPr>
          <a:lstStyle>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Episodic</a:t>
            </a:r>
          </a:p>
        </p:txBody>
      </p:sp>
      <p:sp>
        <p:nvSpPr>
          <p:cNvPr id="11" name="role-3">
            <a:extLst>
              <a:ext uri="{FF2B5EF4-FFF2-40B4-BE49-F238E27FC236}">
                <a16:creationId xmlns:a16="http://schemas.microsoft.com/office/drawing/2014/main" id="{650DE35C-AB20-437A-AC5B-F5CA94C6167F}"/>
              </a:ext>
            </a:extLst>
          </p:cNvPr>
          <p:cNvSpPr>
            <a:spLocks noGrp="1"/>
          </p:cNvSpPr>
          <p:nvPr/>
        </p:nvSpPr>
        <p:spPr>
          <a:xfrm>
            <a:off x="2847975" y="5619750"/>
            <a:ext cx="8734425" cy="609600"/>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lang="en-US" sz="1950" b="0" dirty="0">
                <a:solidFill>
                  <a:srgbClr val="FFFFFF"/>
                </a:solidFill>
                <a:latin typeface="DejaVu Sans"/>
                <a:ea typeface="DejaVu Sans"/>
                <a:cs typeface="DejaVu Sans"/>
              </a:rPr>
              <a:t>Past experience – records of earlier interactions and decisions</a:t>
            </a:r>
            <a:endParaRPr sz="1950" b="0"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950835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C5E3402D-2BAD-4E8B-A013-F7494FF3B7EB}"/>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Working memory</a:t>
            </a:r>
          </a:p>
        </p:txBody>
      </p:sp>
      <p:sp>
        <p:nvSpPr>
          <p:cNvPr id="2" name="definition">
            <a:extLst>
              <a:ext uri="{FF2B5EF4-FFF2-40B4-BE49-F238E27FC236}">
                <a16:creationId xmlns:a16="http://schemas.microsoft.com/office/drawing/2014/main" id="{30ADC332-81F9-462E-A0D4-7309CBEBE825}"/>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sz="2325" b="1" dirty="0">
                <a:solidFill>
                  <a:srgbClr val="FFFFFF"/>
                </a:solidFill>
                <a:latin typeface="DejaVu Sans"/>
                <a:ea typeface="DejaVu Sans"/>
                <a:cs typeface="DejaVu Sans"/>
              </a:rPr>
              <a:t>What </a:t>
            </a:r>
            <a:r>
              <a:rPr lang="en-US" sz="2325" b="1" dirty="0">
                <a:solidFill>
                  <a:srgbClr val="FFFFFF"/>
                </a:solidFill>
                <a:latin typeface="DejaVu Sans"/>
                <a:ea typeface="DejaVu Sans"/>
                <a:cs typeface="DejaVu Sans"/>
              </a:rPr>
              <a:t>an agent</a:t>
            </a:r>
            <a:r>
              <a:rPr sz="2325" b="1" dirty="0">
                <a:solidFill>
                  <a:srgbClr val="FFFFFF"/>
                </a:solidFill>
                <a:latin typeface="DejaVu Sans"/>
                <a:ea typeface="DejaVu Sans"/>
                <a:cs typeface="DejaVu Sans"/>
              </a:rPr>
              <a:t> can use in the current conversation</a:t>
            </a:r>
          </a:p>
        </p:txBody>
      </p:sp>
      <p:sp>
        <p:nvSpPr>
          <p:cNvPr id="3" name="main-section-heading">
            <a:extLst>
              <a:ext uri="{FF2B5EF4-FFF2-40B4-BE49-F238E27FC236}">
                <a16:creationId xmlns:a16="http://schemas.microsoft.com/office/drawing/2014/main" id="{65090E84-58A8-415F-8524-032BF2DC7200}"/>
              </a:ext>
            </a:extLst>
          </p:cNvPr>
          <p:cNvSpPr>
            <a:spLocks noGrp="1"/>
          </p:cNvSpPr>
          <p:nvPr/>
        </p:nvSpPr>
        <p:spPr>
          <a:xfrm>
            <a:off x="609600" y="2333625"/>
            <a:ext cx="641985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sz="1875" b="1" dirty="0">
                <a:solidFill>
                  <a:srgbClr val="FFFFFF"/>
                </a:solidFill>
                <a:latin typeface="DejaVu Sans"/>
                <a:ea typeface="DejaVu Sans"/>
                <a:cs typeface="DejaVu Sans"/>
              </a:rPr>
              <a:t>Inside the context window</a:t>
            </a:r>
          </a:p>
        </p:txBody>
      </p:sp>
      <p:sp>
        <p:nvSpPr>
          <p:cNvPr id="4" name="explanation">
            <a:extLst>
              <a:ext uri="{FF2B5EF4-FFF2-40B4-BE49-F238E27FC236}">
                <a16:creationId xmlns:a16="http://schemas.microsoft.com/office/drawing/2014/main" id="{63C3DC47-7C42-4F9E-B286-154A4A5D2257}"/>
              </a:ext>
            </a:extLst>
          </p:cNvPr>
          <p:cNvSpPr>
            <a:spLocks noGrp="1"/>
          </p:cNvSpPr>
          <p:nvPr/>
        </p:nvSpPr>
        <p:spPr>
          <a:xfrm>
            <a:off x="609600" y="2800350"/>
            <a:ext cx="6419850" cy="261937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Your current request, recent messages, attached files and results returned by available tools.</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Details for this week, such as five dinners for two people and a list of ingredients at home.</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Relevant saved preferences or past experiences brought into the current context.</a:t>
            </a:r>
          </a:p>
        </p:txBody>
      </p:sp>
      <p:sp>
        <p:nvSpPr>
          <p:cNvPr id="5" name="example-heading">
            <a:extLst>
              <a:ext uri="{FF2B5EF4-FFF2-40B4-BE49-F238E27FC236}">
                <a16:creationId xmlns:a16="http://schemas.microsoft.com/office/drawing/2014/main" id="{D284CD64-3275-4A23-8CF6-BF9597A6866C}"/>
              </a:ext>
            </a:extLst>
          </p:cNvPr>
          <p:cNvSpPr>
            <a:spLocks noGrp="1"/>
          </p:cNvSpPr>
          <p:nvPr/>
        </p:nvSpPr>
        <p:spPr>
          <a:xfrm>
            <a:off x="7734299" y="2333625"/>
            <a:ext cx="4227545"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lang="en-US" sz="1875" b="1" dirty="0">
                <a:solidFill>
                  <a:srgbClr val="FFFFFF"/>
                </a:solidFill>
                <a:latin typeface="DejaVu Sans"/>
                <a:ea typeface="DejaVu Sans"/>
                <a:cs typeface="DejaVu Sans"/>
              </a:rPr>
              <a:t>E.g. </a:t>
            </a:r>
            <a:r>
              <a:rPr sz="1875" b="1" dirty="0">
                <a:solidFill>
                  <a:srgbClr val="FFFFFF"/>
                </a:solidFill>
                <a:latin typeface="DejaVu Sans"/>
                <a:ea typeface="DejaVu Sans"/>
                <a:cs typeface="DejaVu Sans"/>
              </a:rPr>
              <a:t>This week’s dinner request</a:t>
            </a:r>
          </a:p>
        </p:txBody>
      </p:sp>
      <p:sp>
        <p:nvSpPr>
          <p:cNvPr id="6" name="worked-example">
            <a:extLst>
              <a:ext uri="{FF2B5EF4-FFF2-40B4-BE49-F238E27FC236}">
                <a16:creationId xmlns:a16="http://schemas.microsoft.com/office/drawing/2014/main" id="{7A44BBB7-6356-492F-AF43-22F5F93ED225}"/>
              </a:ext>
            </a:extLst>
          </p:cNvPr>
          <p:cNvSpPr>
            <a:spLocks noGrp="1"/>
          </p:cNvSpPr>
          <p:nvPr/>
        </p:nvSpPr>
        <p:spPr>
          <a:xfrm>
            <a:off x="7734300" y="2800350"/>
            <a:ext cx="3848100" cy="263842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lang="en-CN" dirty="0"/>
              <a:t>You ask ChatGPT to plan dinner for two people for the next five days. </a:t>
            </a:r>
            <a:r>
              <a:rPr sz="1950" b="0" dirty="0">
                <a:solidFill>
                  <a:srgbClr val="FFFFFF"/>
                </a:solidFill>
                <a:latin typeface="DejaVu Sans"/>
                <a:ea typeface="DejaVu Sans"/>
                <a:cs typeface="DejaVu Sans"/>
              </a:rPr>
              <a:t>In this chat, you add that you already have rice, beans and tomatoes.</a:t>
            </a:r>
          </a:p>
          <a:p>
            <a:endParaRPr sz="1950" b="0" dirty="0">
              <a:solidFill>
                <a:srgbClr val="FFFFFF"/>
              </a:solidFill>
              <a:latin typeface="DejaVu Sans"/>
              <a:ea typeface="DejaVu Sans"/>
              <a:cs typeface="DejaVu Sans"/>
            </a:endParaRPr>
          </a:p>
          <a:p>
            <a:pPr>
              <a:defRPr sz="1950" b="0">
                <a:solidFill>
                  <a:srgbClr val="FFFFFF"/>
                </a:solidFill>
                <a:latin typeface="DejaVu Sans"/>
                <a:ea typeface="DejaVu Sans"/>
                <a:cs typeface="DejaVu Sans"/>
              </a:defRPr>
            </a:pPr>
            <a:r>
              <a:rPr sz="1950" b="0" dirty="0">
                <a:solidFill>
                  <a:srgbClr val="FFFFFF"/>
                </a:solidFill>
                <a:latin typeface="DejaVu Sans"/>
                <a:ea typeface="DejaVu Sans"/>
                <a:cs typeface="DejaVu Sans"/>
              </a:rPr>
              <a:t>Those details guide the current plan.</a:t>
            </a:r>
          </a:p>
        </p:txBody>
      </p:sp>
      <p:sp>
        <p:nvSpPr>
          <p:cNvPr id="7" name="takeaway-heading">
            <a:extLst>
              <a:ext uri="{FF2B5EF4-FFF2-40B4-BE49-F238E27FC236}">
                <a16:creationId xmlns:a16="http://schemas.microsoft.com/office/drawing/2014/main" id="{AFCCA552-A4AB-4313-86FB-E1D598788BB4}"/>
              </a:ext>
            </a:extLst>
          </p:cNvPr>
          <p:cNvSpPr>
            <a:spLocks noGrp="1"/>
          </p:cNvSpPr>
          <p:nvPr/>
        </p:nvSpPr>
        <p:spPr>
          <a:xfrm>
            <a:off x="609600" y="5581650"/>
            <a:ext cx="10972800" cy="333375"/>
          </a:xfrm>
          <a:prstGeom prst="rect">
            <a:avLst/>
          </a:prstGeom>
          <a:noFill/>
          <a:ln w="0">
            <a:noFill/>
            <a:prstDash val="solid"/>
          </a:ln>
        </p:spPr>
        <p:txBody>
          <a:bodyPr wrap="square" lIns="0" tIns="0" rIns="0" bIns="0" anchor="t">
            <a:noAutofit/>
          </a:bodyPr>
          <a:lstStyle>
            <a:defPPr>
              <a:defRPr sz="1725" b="1">
                <a:solidFill>
                  <a:srgbClr val="FFFFFF"/>
                </a:solidFill>
                <a:latin typeface="DejaVu Sans"/>
                <a:ea typeface="DejaVu Sans"/>
                <a:cs typeface="DejaVu Sans"/>
              </a:defRPr>
            </a:defPPr>
            <a:lvl1pPr>
              <a:defRPr sz="1725" b="1">
                <a:solidFill>
                  <a:srgbClr val="FFFFFF"/>
                </a:solidFill>
                <a:latin typeface="DejaVu Sans"/>
                <a:ea typeface="DejaVu Sans"/>
                <a:cs typeface="DejaVu Sans"/>
              </a:defRPr>
            </a:lvl1pPr>
            <a:lvl2pPr>
              <a:defRPr sz="1725" b="1">
                <a:solidFill>
                  <a:srgbClr val="FFFFFF"/>
                </a:solidFill>
                <a:latin typeface="DejaVu Sans"/>
                <a:ea typeface="DejaVu Sans"/>
                <a:cs typeface="DejaVu Sans"/>
              </a:defRPr>
            </a:lvl2pPr>
            <a:lvl3pPr>
              <a:defRPr sz="1725" b="1">
                <a:solidFill>
                  <a:srgbClr val="FFFFFF"/>
                </a:solidFill>
                <a:latin typeface="DejaVu Sans"/>
                <a:ea typeface="DejaVu Sans"/>
                <a:cs typeface="DejaVu Sans"/>
              </a:defRPr>
            </a:lvl3pPr>
            <a:lvl4pPr>
              <a:defRPr sz="1725" b="1">
                <a:solidFill>
                  <a:srgbClr val="FFFFFF"/>
                </a:solidFill>
                <a:latin typeface="DejaVu Sans"/>
                <a:ea typeface="DejaVu Sans"/>
                <a:cs typeface="DejaVu Sans"/>
              </a:defRPr>
            </a:lvl4pPr>
            <a:lvl5pPr>
              <a:defRPr sz="1725" b="1">
                <a:solidFill>
                  <a:srgbClr val="FFFFFF"/>
                </a:solidFill>
                <a:latin typeface="DejaVu Sans"/>
                <a:ea typeface="DejaVu Sans"/>
                <a:cs typeface="DejaVu Sans"/>
              </a:defRPr>
            </a:lvl5pPr>
            <a:lvl6pPr>
              <a:defRPr sz="1725" b="1">
                <a:solidFill>
                  <a:srgbClr val="FFFFFF"/>
                </a:solidFill>
                <a:latin typeface="DejaVu Sans"/>
                <a:ea typeface="DejaVu Sans"/>
                <a:cs typeface="DejaVu Sans"/>
              </a:defRPr>
            </a:lvl6pPr>
            <a:lvl7pPr>
              <a:defRPr sz="1725" b="1">
                <a:solidFill>
                  <a:srgbClr val="FFFFFF"/>
                </a:solidFill>
                <a:latin typeface="DejaVu Sans"/>
                <a:ea typeface="DejaVu Sans"/>
                <a:cs typeface="DejaVu Sans"/>
              </a:defRPr>
            </a:lvl7pPr>
            <a:lvl8pPr>
              <a:defRPr sz="1725" b="1">
                <a:solidFill>
                  <a:srgbClr val="FFFFFF"/>
                </a:solidFill>
                <a:latin typeface="DejaVu Sans"/>
                <a:ea typeface="DejaVu Sans"/>
                <a:cs typeface="DejaVu Sans"/>
              </a:defRPr>
            </a:lvl8pPr>
            <a:lvl9pPr>
              <a:defRPr sz="1725" b="1">
                <a:solidFill>
                  <a:srgbClr val="FFFFFF"/>
                </a:solidFill>
                <a:latin typeface="DejaVu Sans"/>
                <a:ea typeface="DejaVu Sans"/>
                <a:cs typeface="DejaVu Sans"/>
              </a:defRPr>
            </a:lvl9pPr>
          </a:lstStyle>
          <a:p>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Key point</a:t>
            </a:r>
          </a:p>
        </p:txBody>
      </p:sp>
      <p:sp>
        <p:nvSpPr>
          <p:cNvPr id="8" name="takeaway">
            <a:extLst>
              <a:ext uri="{FF2B5EF4-FFF2-40B4-BE49-F238E27FC236}">
                <a16:creationId xmlns:a16="http://schemas.microsoft.com/office/drawing/2014/main" id="{5FBD7CA8-0911-4C8C-A2F4-215DBE11134A}"/>
              </a:ext>
            </a:extLst>
          </p:cNvPr>
          <p:cNvSpPr>
            <a:spLocks noGrp="1"/>
          </p:cNvSpPr>
          <p:nvPr/>
        </p:nvSpPr>
        <p:spPr>
          <a:xfrm>
            <a:off x="609600" y="5953125"/>
            <a:ext cx="10972800" cy="666750"/>
          </a:xfrm>
          <a:prstGeom prst="rect">
            <a:avLst/>
          </a:prstGeom>
          <a:noFill/>
          <a:ln w="0">
            <a:noFill/>
            <a:prstDash val="solid"/>
          </a:ln>
        </p:spPr>
        <p:txBody>
          <a:bodyPr wrap="square" lIns="0" tIns="0" rIns="0" bIns="0" anchor="t">
            <a:noAutofit/>
          </a:bodyPr>
          <a:lstStyle>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Working memory is limited. A future chat can use earlier information only when it is available through saved memory, history or supplied context.</a:t>
            </a:r>
          </a:p>
        </p:txBody>
      </p:sp>
    </p:spTree>
    <p:extLst>
      <p:ext uri="{BB962C8B-B14F-4D97-AF65-F5344CB8AC3E}">
        <p14:creationId xmlns:p14="http://schemas.microsoft.com/office/powerpoint/2010/main" val="1630434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7BD5518-BF1C-49AA-BA9D-9274BF72B6F5}"/>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Semantic memory</a:t>
            </a:r>
          </a:p>
        </p:txBody>
      </p:sp>
      <p:sp>
        <p:nvSpPr>
          <p:cNvPr id="2" name="definition">
            <a:extLst>
              <a:ext uri="{FF2B5EF4-FFF2-40B4-BE49-F238E27FC236}">
                <a16:creationId xmlns:a16="http://schemas.microsoft.com/office/drawing/2014/main" id="{045A9D73-31B8-45B8-8E30-3781E3DDCE06}"/>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Reusable facts and preferences ChatGPT can draw on</a:t>
            </a:r>
          </a:p>
        </p:txBody>
      </p:sp>
      <p:sp>
        <p:nvSpPr>
          <p:cNvPr id="3" name="main-section-heading">
            <a:extLst>
              <a:ext uri="{FF2B5EF4-FFF2-40B4-BE49-F238E27FC236}">
                <a16:creationId xmlns:a16="http://schemas.microsoft.com/office/drawing/2014/main" id="{F9141025-4363-44B5-A214-C4CD473A2B43}"/>
              </a:ext>
            </a:extLst>
          </p:cNvPr>
          <p:cNvSpPr>
            <a:spLocks noGrp="1"/>
          </p:cNvSpPr>
          <p:nvPr/>
        </p:nvSpPr>
        <p:spPr>
          <a:xfrm>
            <a:off x="609600" y="2333625"/>
            <a:ext cx="641985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Facts that remain useful</a:t>
            </a:r>
          </a:p>
        </p:txBody>
      </p:sp>
      <p:sp>
        <p:nvSpPr>
          <p:cNvPr id="4" name="explanation">
            <a:extLst>
              <a:ext uri="{FF2B5EF4-FFF2-40B4-BE49-F238E27FC236}">
                <a16:creationId xmlns:a16="http://schemas.microsoft.com/office/drawing/2014/main" id="{DD1D568F-2CC9-4A11-A84B-06FDDDB9CE2C}"/>
              </a:ext>
            </a:extLst>
          </p:cNvPr>
          <p:cNvSpPr>
            <a:spLocks noGrp="1"/>
          </p:cNvSpPr>
          <p:nvPr/>
        </p:nvSpPr>
        <p:spPr>
          <a:xfrm>
            <a:off x="609600" y="2800350"/>
            <a:ext cx="6419850" cy="261937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Saved facts and preferences can help personalize later conversations when memory is available.</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Our example saves the facts that the person is vegetarian and usually cooks for two.</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A general preference describes what usually applies. The outcome of one past plan describes a particular experience.</a:t>
            </a:r>
          </a:p>
        </p:txBody>
      </p:sp>
      <p:sp>
        <p:nvSpPr>
          <p:cNvPr id="5" name="example-heading">
            <a:extLst>
              <a:ext uri="{FF2B5EF4-FFF2-40B4-BE49-F238E27FC236}">
                <a16:creationId xmlns:a16="http://schemas.microsoft.com/office/drawing/2014/main" id="{3E39592B-8203-4B20-8E00-539A0183AE5A}"/>
              </a:ext>
            </a:extLst>
          </p:cNvPr>
          <p:cNvSpPr>
            <a:spLocks noGrp="1"/>
          </p:cNvSpPr>
          <p:nvPr/>
        </p:nvSpPr>
        <p:spPr>
          <a:xfrm>
            <a:off x="7734300" y="2333625"/>
            <a:ext cx="384810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lang="en-US" sz="1875" b="1" dirty="0">
                <a:solidFill>
                  <a:srgbClr val="FFFFFF"/>
                </a:solidFill>
                <a:latin typeface="DejaVu Sans"/>
                <a:ea typeface="DejaVu Sans"/>
                <a:cs typeface="DejaVu Sans"/>
              </a:rPr>
              <a:t>E.g. </a:t>
            </a:r>
            <a:r>
              <a:rPr sz="1875" b="1" dirty="0">
                <a:solidFill>
                  <a:srgbClr val="FFFFFF"/>
                </a:solidFill>
                <a:latin typeface="DejaVu Sans"/>
                <a:ea typeface="DejaVu Sans"/>
                <a:cs typeface="DejaVu Sans"/>
              </a:rPr>
              <a:t>A saved preference</a:t>
            </a:r>
          </a:p>
        </p:txBody>
      </p:sp>
      <p:sp>
        <p:nvSpPr>
          <p:cNvPr id="6" name="worked-example">
            <a:extLst>
              <a:ext uri="{FF2B5EF4-FFF2-40B4-BE49-F238E27FC236}">
                <a16:creationId xmlns:a16="http://schemas.microsoft.com/office/drawing/2014/main" id="{4279444A-AF6B-4F04-B857-7B934D2C45C2}"/>
              </a:ext>
            </a:extLst>
          </p:cNvPr>
          <p:cNvSpPr>
            <a:spLocks noGrp="1"/>
          </p:cNvSpPr>
          <p:nvPr/>
        </p:nvSpPr>
        <p:spPr>
          <a:xfrm>
            <a:off x="7734300" y="2800350"/>
            <a:ext cx="3848100" cy="263842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“I’m vegetarian and I usually cook for two.”</a:t>
            </a:r>
          </a:p>
          <a:p>
            <a:endParaRPr sz="1950" b="0">
              <a:solidFill>
                <a:srgbClr val="FFFFFF"/>
              </a:solidFill>
              <a:latin typeface="DejaVu Sans"/>
              <a:ea typeface="DejaVu Sans"/>
              <a:cs typeface="DejaVu Sans"/>
            </a:endParaRPr>
          </a:p>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ChatGPT can use that fact in a later dinner plan when the preference is available, without needing the same explanation again.</a:t>
            </a:r>
          </a:p>
        </p:txBody>
      </p:sp>
      <p:sp>
        <p:nvSpPr>
          <p:cNvPr id="7" name="takeaway-heading">
            <a:extLst>
              <a:ext uri="{FF2B5EF4-FFF2-40B4-BE49-F238E27FC236}">
                <a16:creationId xmlns:a16="http://schemas.microsoft.com/office/drawing/2014/main" id="{45BC3AAE-6395-43AA-A3A9-2E9D8FCFB314}"/>
              </a:ext>
            </a:extLst>
          </p:cNvPr>
          <p:cNvSpPr>
            <a:spLocks noGrp="1"/>
          </p:cNvSpPr>
          <p:nvPr/>
        </p:nvSpPr>
        <p:spPr>
          <a:xfrm>
            <a:off x="609600" y="5581650"/>
            <a:ext cx="10972800" cy="333375"/>
          </a:xfrm>
          <a:prstGeom prst="rect">
            <a:avLst/>
          </a:prstGeom>
          <a:noFill/>
          <a:ln w="0">
            <a:noFill/>
            <a:prstDash val="solid"/>
          </a:ln>
        </p:spPr>
        <p:txBody>
          <a:bodyPr wrap="square" lIns="0" tIns="0" rIns="0" bIns="0" anchor="t">
            <a:noAutofit/>
          </a:bodyPr>
          <a:lstStyle>
            <a:defPPr>
              <a:defRPr sz="1725" b="1">
                <a:solidFill>
                  <a:srgbClr val="FFFFFF"/>
                </a:solidFill>
                <a:latin typeface="DejaVu Sans"/>
                <a:ea typeface="DejaVu Sans"/>
                <a:cs typeface="DejaVu Sans"/>
              </a:defRPr>
            </a:defPPr>
            <a:lvl1pPr>
              <a:defRPr sz="1725" b="1">
                <a:solidFill>
                  <a:srgbClr val="FFFFFF"/>
                </a:solidFill>
                <a:latin typeface="DejaVu Sans"/>
                <a:ea typeface="DejaVu Sans"/>
                <a:cs typeface="DejaVu Sans"/>
              </a:defRPr>
            </a:lvl1pPr>
            <a:lvl2pPr>
              <a:defRPr sz="1725" b="1">
                <a:solidFill>
                  <a:srgbClr val="FFFFFF"/>
                </a:solidFill>
                <a:latin typeface="DejaVu Sans"/>
                <a:ea typeface="DejaVu Sans"/>
                <a:cs typeface="DejaVu Sans"/>
              </a:defRPr>
            </a:lvl2pPr>
            <a:lvl3pPr>
              <a:defRPr sz="1725" b="1">
                <a:solidFill>
                  <a:srgbClr val="FFFFFF"/>
                </a:solidFill>
                <a:latin typeface="DejaVu Sans"/>
                <a:ea typeface="DejaVu Sans"/>
                <a:cs typeface="DejaVu Sans"/>
              </a:defRPr>
            </a:lvl3pPr>
            <a:lvl4pPr>
              <a:defRPr sz="1725" b="1">
                <a:solidFill>
                  <a:srgbClr val="FFFFFF"/>
                </a:solidFill>
                <a:latin typeface="DejaVu Sans"/>
                <a:ea typeface="DejaVu Sans"/>
                <a:cs typeface="DejaVu Sans"/>
              </a:defRPr>
            </a:lvl4pPr>
            <a:lvl5pPr>
              <a:defRPr sz="1725" b="1">
                <a:solidFill>
                  <a:srgbClr val="FFFFFF"/>
                </a:solidFill>
                <a:latin typeface="DejaVu Sans"/>
                <a:ea typeface="DejaVu Sans"/>
                <a:cs typeface="DejaVu Sans"/>
              </a:defRPr>
            </a:lvl5pPr>
            <a:lvl6pPr>
              <a:defRPr sz="1725" b="1">
                <a:solidFill>
                  <a:srgbClr val="FFFFFF"/>
                </a:solidFill>
                <a:latin typeface="DejaVu Sans"/>
                <a:ea typeface="DejaVu Sans"/>
                <a:cs typeface="DejaVu Sans"/>
              </a:defRPr>
            </a:lvl6pPr>
            <a:lvl7pPr>
              <a:defRPr sz="1725" b="1">
                <a:solidFill>
                  <a:srgbClr val="FFFFFF"/>
                </a:solidFill>
                <a:latin typeface="DejaVu Sans"/>
                <a:ea typeface="DejaVu Sans"/>
                <a:cs typeface="DejaVu Sans"/>
              </a:defRPr>
            </a:lvl7pPr>
            <a:lvl8pPr>
              <a:defRPr sz="1725" b="1">
                <a:solidFill>
                  <a:srgbClr val="FFFFFF"/>
                </a:solidFill>
                <a:latin typeface="DejaVu Sans"/>
                <a:ea typeface="DejaVu Sans"/>
                <a:cs typeface="DejaVu Sans"/>
              </a:defRPr>
            </a:lvl8pPr>
            <a:lvl9pPr>
              <a:defRPr sz="1725" b="1">
                <a:solidFill>
                  <a:srgbClr val="FFFFFF"/>
                </a:solidFill>
                <a:latin typeface="DejaVu Sans"/>
                <a:ea typeface="DejaVu Sans"/>
                <a:cs typeface="DejaVu Sans"/>
              </a:defRPr>
            </a:lvl9pPr>
          </a:lstStyle>
          <a:p>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Key point</a:t>
            </a:r>
          </a:p>
        </p:txBody>
      </p:sp>
      <p:sp>
        <p:nvSpPr>
          <p:cNvPr id="8" name="takeaway">
            <a:extLst>
              <a:ext uri="{FF2B5EF4-FFF2-40B4-BE49-F238E27FC236}">
                <a16:creationId xmlns:a16="http://schemas.microsoft.com/office/drawing/2014/main" id="{4E0382A1-E386-48CC-9EAF-11927E450D67}"/>
              </a:ext>
            </a:extLst>
          </p:cNvPr>
          <p:cNvSpPr>
            <a:spLocks noGrp="1"/>
          </p:cNvSpPr>
          <p:nvPr/>
        </p:nvSpPr>
        <p:spPr>
          <a:xfrm>
            <a:off x="609600" y="5953125"/>
            <a:ext cx="10972800" cy="666750"/>
          </a:xfrm>
          <a:prstGeom prst="rect">
            <a:avLst/>
          </a:prstGeom>
          <a:noFill/>
          <a:ln w="0">
            <a:noFill/>
            <a:prstDash val="solid"/>
          </a:ln>
        </p:spPr>
        <p:txBody>
          <a:bodyPr wrap="square" lIns="0" tIns="0" rIns="0" bIns="0" anchor="t">
            <a:noAutofit/>
          </a:bodyPr>
          <a:lstStyle>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Semantic memory supplies reusable facts. ChatGPT still needs relevant, current information when preparing a new response.</a:t>
            </a:r>
          </a:p>
        </p:txBody>
      </p:sp>
    </p:spTree>
    <p:extLst>
      <p:ext uri="{BB962C8B-B14F-4D97-AF65-F5344CB8AC3E}">
        <p14:creationId xmlns:p14="http://schemas.microsoft.com/office/powerpoint/2010/main" val="189971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0D172FE-70C3-4A71-A14A-0B81F940357A}"/>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Procedural memory</a:t>
            </a:r>
          </a:p>
        </p:txBody>
      </p:sp>
      <p:sp>
        <p:nvSpPr>
          <p:cNvPr id="2" name="definition">
            <a:extLst>
              <a:ext uri="{FF2B5EF4-FFF2-40B4-BE49-F238E27FC236}">
                <a16:creationId xmlns:a16="http://schemas.microsoft.com/office/drawing/2014/main" id="{A2C7E6A1-EA3A-43EB-8EDE-FD470B2099AA}"/>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A reusable method ChatGPT can follow for a task</a:t>
            </a:r>
          </a:p>
        </p:txBody>
      </p:sp>
      <p:sp>
        <p:nvSpPr>
          <p:cNvPr id="3" name="main-section-heading">
            <a:extLst>
              <a:ext uri="{FF2B5EF4-FFF2-40B4-BE49-F238E27FC236}">
                <a16:creationId xmlns:a16="http://schemas.microsoft.com/office/drawing/2014/main" id="{8D230852-70AA-440E-B86C-EC9DB15009FF}"/>
              </a:ext>
            </a:extLst>
          </p:cNvPr>
          <p:cNvSpPr>
            <a:spLocks noGrp="1"/>
          </p:cNvSpPr>
          <p:nvPr/>
        </p:nvSpPr>
        <p:spPr>
          <a:xfrm>
            <a:off x="609600" y="2333625"/>
            <a:ext cx="641985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A meal-planning workflow</a:t>
            </a:r>
          </a:p>
        </p:txBody>
      </p:sp>
      <p:sp>
        <p:nvSpPr>
          <p:cNvPr id="4" name="explanation">
            <a:extLst>
              <a:ext uri="{FF2B5EF4-FFF2-40B4-BE49-F238E27FC236}">
                <a16:creationId xmlns:a16="http://schemas.microsoft.com/office/drawing/2014/main" id="{4A6498BE-8215-479A-80E1-652AFAF68780}"/>
              </a:ext>
            </a:extLst>
          </p:cNvPr>
          <p:cNvSpPr>
            <a:spLocks noGrp="1"/>
          </p:cNvSpPr>
          <p:nvPr/>
        </p:nvSpPr>
        <p:spPr>
          <a:xfrm>
            <a:off x="609600" y="2800350"/>
            <a:ext cx="6419850" cy="261937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A skill can package a repeatable process with instructions and supporting resources.</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ChatGPT can select an available skill that matches the task, then follow its workflow.</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Progressive disclosure means loading detailed instructions and extra resources as needed.</a:t>
            </a:r>
          </a:p>
        </p:txBody>
      </p:sp>
      <p:sp>
        <p:nvSpPr>
          <p:cNvPr id="5" name="example-heading">
            <a:extLst>
              <a:ext uri="{FF2B5EF4-FFF2-40B4-BE49-F238E27FC236}">
                <a16:creationId xmlns:a16="http://schemas.microsoft.com/office/drawing/2014/main" id="{1EE8CE83-D3A9-4E29-8F5B-6C22BB4F0520}"/>
              </a:ext>
            </a:extLst>
          </p:cNvPr>
          <p:cNvSpPr>
            <a:spLocks noGrp="1"/>
          </p:cNvSpPr>
          <p:nvPr/>
        </p:nvSpPr>
        <p:spPr>
          <a:xfrm>
            <a:off x="7734299" y="2333625"/>
            <a:ext cx="4255537"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lang="en-US" sz="1875" b="1" dirty="0">
                <a:solidFill>
                  <a:srgbClr val="FFFFFF"/>
                </a:solidFill>
                <a:latin typeface="DejaVu Sans"/>
                <a:ea typeface="DejaVu Sans"/>
                <a:cs typeface="DejaVu Sans"/>
              </a:rPr>
              <a:t>E.g. </a:t>
            </a:r>
            <a:r>
              <a:rPr sz="1875" b="1" dirty="0">
                <a:solidFill>
                  <a:srgbClr val="FFFFFF"/>
                </a:solidFill>
                <a:latin typeface="DejaVu Sans"/>
                <a:ea typeface="DejaVu Sans"/>
                <a:cs typeface="DejaVu Sans"/>
              </a:rPr>
              <a:t>The steps in our example</a:t>
            </a:r>
          </a:p>
        </p:txBody>
      </p:sp>
      <p:sp>
        <p:nvSpPr>
          <p:cNvPr id="6" name="worked-example">
            <a:extLst>
              <a:ext uri="{FF2B5EF4-FFF2-40B4-BE49-F238E27FC236}">
                <a16:creationId xmlns:a16="http://schemas.microsoft.com/office/drawing/2014/main" id="{37B291BC-5DFE-425A-B67A-1FAEC96D4792}"/>
              </a:ext>
            </a:extLst>
          </p:cNvPr>
          <p:cNvSpPr>
            <a:spLocks noGrp="1"/>
          </p:cNvSpPr>
          <p:nvPr/>
        </p:nvSpPr>
        <p:spPr>
          <a:xfrm>
            <a:off x="7734300" y="2800350"/>
            <a:ext cx="3848100" cy="263842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Check preferences, select five suitable dinners, group shared ingredients and make one shopping list.</a:t>
            </a:r>
          </a:p>
          <a:p>
            <a:endParaRPr sz="1950" b="0">
              <a:solidFill>
                <a:srgbClr val="FFFFFF"/>
              </a:solidFill>
              <a:latin typeface="DejaVu Sans"/>
              <a:ea typeface="DejaVu Sans"/>
              <a:cs typeface="DejaVu Sans"/>
            </a:endParaRPr>
          </a:p>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The same workflow can guide the next plan, with different inputs.</a:t>
            </a:r>
          </a:p>
        </p:txBody>
      </p:sp>
      <p:sp>
        <p:nvSpPr>
          <p:cNvPr id="7" name="takeaway-heading">
            <a:extLst>
              <a:ext uri="{FF2B5EF4-FFF2-40B4-BE49-F238E27FC236}">
                <a16:creationId xmlns:a16="http://schemas.microsoft.com/office/drawing/2014/main" id="{D779CEA5-2DB8-48DB-8E39-04180DC87938}"/>
              </a:ext>
            </a:extLst>
          </p:cNvPr>
          <p:cNvSpPr>
            <a:spLocks noGrp="1"/>
          </p:cNvSpPr>
          <p:nvPr/>
        </p:nvSpPr>
        <p:spPr>
          <a:xfrm>
            <a:off x="609600" y="5581650"/>
            <a:ext cx="10972800" cy="333375"/>
          </a:xfrm>
          <a:prstGeom prst="rect">
            <a:avLst/>
          </a:prstGeom>
          <a:noFill/>
          <a:ln w="0">
            <a:noFill/>
            <a:prstDash val="solid"/>
          </a:ln>
        </p:spPr>
        <p:txBody>
          <a:bodyPr wrap="square" lIns="0" tIns="0" rIns="0" bIns="0" anchor="t">
            <a:noAutofit/>
          </a:bodyPr>
          <a:lstStyle>
            <a:defPPr>
              <a:defRPr sz="1725" b="1">
                <a:solidFill>
                  <a:srgbClr val="FFFFFF"/>
                </a:solidFill>
                <a:latin typeface="DejaVu Sans"/>
                <a:ea typeface="DejaVu Sans"/>
                <a:cs typeface="DejaVu Sans"/>
              </a:defRPr>
            </a:defPPr>
            <a:lvl1pPr>
              <a:defRPr sz="1725" b="1">
                <a:solidFill>
                  <a:srgbClr val="FFFFFF"/>
                </a:solidFill>
                <a:latin typeface="DejaVu Sans"/>
                <a:ea typeface="DejaVu Sans"/>
                <a:cs typeface="DejaVu Sans"/>
              </a:defRPr>
            </a:lvl1pPr>
            <a:lvl2pPr>
              <a:defRPr sz="1725" b="1">
                <a:solidFill>
                  <a:srgbClr val="FFFFFF"/>
                </a:solidFill>
                <a:latin typeface="DejaVu Sans"/>
                <a:ea typeface="DejaVu Sans"/>
                <a:cs typeface="DejaVu Sans"/>
              </a:defRPr>
            </a:lvl2pPr>
            <a:lvl3pPr>
              <a:defRPr sz="1725" b="1">
                <a:solidFill>
                  <a:srgbClr val="FFFFFF"/>
                </a:solidFill>
                <a:latin typeface="DejaVu Sans"/>
                <a:ea typeface="DejaVu Sans"/>
                <a:cs typeface="DejaVu Sans"/>
              </a:defRPr>
            </a:lvl3pPr>
            <a:lvl4pPr>
              <a:defRPr sz="1725" b="1">
                <a:solidFill>
                  <a:srgbClr val="FFFFFF"/>
                </a:solidFill>
                <a:latin typeface="DejaVu Sans"/>
                <a:ea typeface="DejaVu Sans"/>
                <a:cs typeface="DejaVu Sans"/>
              </a:defRPr>
            </a:lvl4pPr>
            <a:lvl5pPr>
              <a:defRPr sz="1725" b="1">
                <a:solidFill>
                  <a:srgbClr val="FFFFFF"/>
                </a:solidFill>
                <a:latin typeface="DejaVu Sans"/>
                <a:ea typeface="DejaVu Sans"/>
                <a:cs typeface="DejaVu Sans"/>
              </a:defRPr>
            </a:lvl5pPr>
            <a:lvl6pPr>
              <a:defRPr sz="1725" b="1">
                <a:solidFill>
                  <a:srgbClr val="FFFFFF"/>
                </a:solidFill>
                <a:latin typeface="DejaVu Sans"/>
                <a:ea typeface="DejaVu Sans"/>
                <a:cs typeface="DejaVu Sans"/>
              </a:defRPr>
            </a:lvl6pPr>
            <a:lvl7pPr>
              <a:defRPr sz="1725" b="1">
                <a:solidFill>
                  <a:srgbClr val="FFFFFF"/>
                </a:solidFill>
                <a:latin typeface="DejaVu Sans"/>
                <a:ea typeface="DejaVu Sans"/>
                <a:cs typeface="DejaVu Sans"/>
              </a:defRPr>
            </a:lvl7pPr>
            <a:lvl8pPr>
              <a:defRPr sz="1725" b="1">
                <a:solidFill>
                  <a:srgbClr val="FFFFFF"/>
                </a:solidFill>
                <a:latin typeface="DejaVu Sans"/>
                <a:ea typeface="DejaVu Sans"/>
                <a:cs typeface="DejaVu Sans"/>
              </a:defRPr>
            </a:lvl8pPr>
            <a:lvl9pPr>
              <a:defRPr sz="1725" b="1">
                <a:solidFill>
                  <a:srgbClr val="FFFFFF"/>
                </a:solidFill>
                <a:latin typeface="DejaVu Sans"/>
                <a:ea typeface="DejaVu Sans"/>
                <a:cs typeface="DejaVu Sans"/>
              </a:defRPr>
            </a:lvl9pPr>
          </a:lstStyle>
          <a:p>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Key point</a:t>
            </a:r>
          </a:p>
        </p:txBody>
      </p:sp>
      <p:sp>
        <p:nvSpPr>
          <p:cNvPr id="8" name="takeaway">
            <a:extLst>
              <a:ext uri="{FF2B5EF4-FFF2-40B4-BE49-F238E27FC236}">
                <a16:creationId xmlns:a16="http://schemas.microsoft.com/office/drawing/2014/main" id="{32446EE0-BE9F-48D4-B8AF-7DA5C16469F8}"/>
              </a:ext>
            </a:extLst>
          </p:cNvPr>
          <p:cNvSpPr>
            <a:spLocks noGrp="1"/>
          </p:cNvSpPr>
          <p:nvPr/>
        </p:nvSpPr>
        <p:spPr>
          <a:xfrm>
            <a:off x="609600" y="5953125"/>
            <a:ext cx="10972800" cy="666750"/>
          </a:xfrm>
          <a:prstGeom prst="rect">
            <a:avLst/>
          </a:prstGeom>
          <a:noFill/>
          <a:ln w="0">
            <a:noFill/>
            <a:prstDash val="solid"/>
          </a:ln>
        </p:spPr>
        <p:txBody>
          <a:bodyPr wrap="square" lIns="0" tIns="0" rIns="0" bIns="0" anchor="t">
            <a:noAutofit/>
          </a:bodyPr>
          <a:lstStyle>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Procedural memory supplies a method. A reusable workflow adds task instructions without loading every possible guide into the current conversation.</a:t>
            </a:r>
          </a:p>
        </p:txBody>
      </p:sp>
    </p:spTree>
    <p:extLst>
      <p:ext uri="{BB962C8B-B14F-4D97-AF65-F5344CB8AC3E}">
        <p14:creationId xmlns:p14="http://schemas.microsoft.com/office/powerpoint/2010/main" val="818240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2D98BBF-29CA-4A8F-A1B2-8C891DAFE0FA}"/>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Episodic memory</a:t>
            </a:r>
          </a:p>
        </p:txBody>
      </p:sp>
      <p:sp>
        <p:nvSpPr>
          <p:cNvPr id="2" name="definition">
            <a:extLst>
              <a:ext uri="{FF2B5EF4-FFF2-40B4-BE49-F238E27FC236}">
                <a16:creationId xmlns:a16="http://schemas.microsoft.com/office/drawing/2014/main" id="{65A48E62-A034-429C-9DEB-05CC9B4E41FB}"/>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Relevant experience from an earlier interaction</a:t>
            </a:r>
          </a:p>
        </p:txBody>
      </p:sp>
      <p:sp>
        <p:nvSpPr>
          <p:cNvPr id="3" name="main-section-heading">
            <a:extLst>
              <a:ext uri="{FF2B5EF4-FFF2-40B4-BE49-F238E27FC236}">
                <a16:creationId xmlns:a16="http://schemas.microsoft.com/office/drawing/2014/main" id="{2083A830-0538-4EB6-A607-B4EB348DB31A}"/>
              </a:ext>
            </a:extLst>
          </p:cNvPr>
          <p:cNvSpPr>
            <a:spLocks noGrp="1"/>
          </p:cNvSpPr>
          <p:nvPr/>
        </p:nvSpPr>
        <p:spPr>
          <a:xfrm>
            <a:off x="609600" y="2333625"/>
            <a:ext cx="641985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What happened last time</a:t>
            </a:r>
          </a:p>
        </p:txBody>
      </p:sp>
      <p:sp>
        <p:nvSpPr>
          <p:cNvPr id="4" name="explanation">
            <a:extLst>
              <a:ext uri="{FF2B5EF4-FFF2-40B4-BE49-F238E27FC236}">
                <a16:creationId xmlns:a16="http://schemas.microsoft.com/office/drawing/2014/main" id="{A49B05DC-C689-44CD-A506-9F30336490AB}"/>
              </a:ext>
            </a:extLst>
          </p:cNvPr>
          <p:cNvSpPr>
            <a:spLocks noGrp="1"/>
          </p:cNvSpPr>
          <p:nvPr/>
        </p:nvSpPr>
        <p:spPr>
          <a:xfrm>
            <a:off x="609600" y="2800350"/>
            <a:ext cx="6419850" cy="261937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A record of a particular earlier interaction, including the suggestion, feedback and outcome.</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Our example keeps a note that last week’s dinners required too much preparation.</a:t>
            </a:r>
          </a:p>
          <a:p>
            <a:pPr marL="228600" indent="-114300">
              <a:spcAft>
                <a:spcPts val="1100"/>
              </a:spcAft>
              <a:buChar char="•"/>
              <a:defRPr sz="1950" b="0">
                <a:solidFill>
                  <a:srgbClr val="FFFFFF"/>
                </a:solidFill>
                <a:latin typeface="DejaVu Sans"/>
                <a:ea typeface="DejaVu Sans"/>
                <a:cs typeface="DejaVu Sans"/>
              </a:defRPr>
            </a:pPr>
            <a:r>
              <a:rPr sz="1950">
                <a:solidFill>
                  <a:srgbClr val="FFFFFF"/>
                </a:solidFill>
                <a:latin typeface="DejaVu Sans"/>
                <a:ea typeface="DejaVu Sans"/>
                <a:cs typeface="DejaVu Sans"/>
              </a:rPr>
              <a:t>The useful record keeps the outcome and context, so a later plan can respond to that experience.</a:t>
            </a:r>
          </a:p>
        </p:txBody>
      </p:sp>
      <p:sp>
        <p:nvSpPr>
          <p:cNvPr id="5" name="example-heading">
            <a:extLst>
              <a:ext uri="{FF2B5EF4-FFF2-40B4-BE49-F238E27FC236}">
                <a16:creationId xmlns:a16="http://schemas.microsoft.com/office/drawing/2014/main" id="{D158A75E-7152-4D5A-8A19-9D6B39FDED93}"/>
              </a:ext>
            </a:extLst>
          </p:cNvPr>
          <p:cNvSpPr>
            <a:spLocks noGrp="1"/>
          </p:cNvSpPr>
          <p:nvPr/>
        </p:nvSpPr>
        <p:spPr>
          <a:xfrm>
            <a:off x="7734300" y="2333625"/>
            <a:ext cx="384810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lang="en-US" sz="1875" b="1" dirty="0">
                <a:solidFill>
                  <a:srgbClr val="FFFFFF"/>
                </a:solidFill>
                <a:latin typeface="DejaVu Sans"/>
                <a:ea typeface="DejaVu Sans"/>
                <a:cs typeface="DejaVu Sans"/>
              </a:rPr>
              <a:t>E.g. </a:t>
            </a:r>
            <a:r>
              <a:rPr sz="1875" b="1" dirty="0">
                <a:solidFill>
                  <a:srgbClr val="FFFFFF"/>
                </a:solidFill>
                <a:latin typeface="DejaVu Sans"/>
                <a:ea typeface="DejaVu Sans"/>
                <a:cs typeface="DejaVu Sans"/>
              </a:rPr>
              <a:t>Feedback on a past plan</a:t>
            </a:r>
          </a:p>
        </p:txBody>
      </p:sp>
      <p:sp>
        <p:nvSpPr>
          <p:cNvPr id="6" name="worked-example">
            <a:extLst>
              <a:ext uri="{FF2B5EF4-FFF2-40B4-BE49-F238E27FC236}">
                <a16:creationId xmlns:a16="http://schemas.microsoft.com/office/drawing/2014/main" id="{C7F8BDA7-5455-46A7-80AF-5E3C1DF32357}"/>
              </a:ext>
            </a:extLst>
          </p:cNvPr>
          <p:cNvSpPr>
            <a:spLocks noGrp="1"/>
          </p:cNvSpPr>
          <p:nvPr/>
        </p:nvSpPr>
        <p:spPr>
          <a:xfrm>
            <a:off x="7734300" y="2800350"/>
            <a:ext cx="3848100" cy="263842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“Last week’s plan took too long to cook on work nights. The user asked for simpler meals.”</a:t>
            </a:r>
          </a:p>
          <a:p>
            <a:endParaRPr sz="1950" b="0">
              <a:solidFill>
                <a:srgbClr val="FFFFFF"/>
              </a:solidFill>
              <a:latin typeface="DejaVu Sans"/>
              <a:ea typeface="DejaVu Sans"/>
              <a:cs typeface="DejaVu Sans"/>
            </a:endParaRPr>
          </a:p>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That experience can guide the next plan when it is available.</a:t>
            </a:r>
          </a:p>
        </p:txBody>
      </p:sp>
      <p:sp>
        <p:nvSpPr>
          <p:cNvPr id="7" name="takeaway-heading">
            <a:extLst>
              <a:ext uri="{FF2B5EF4-FFF2-40B4-BE49-F238E27FC236}">
                <a16:creationId xmlns:a16="http://schemas.microsoft.com/office/drawing/2014/main" id="{84456B9C-BA71-48EA-B268-84CAEC915A53}"/>
              </a:ext>
            </a:extLst>
          </p:cNvPr>
          <p:cNvSpPr>
            <a:spLocks noGrp="1"/>
          </p:cNvSpPr>
          <p:nvPr/>
        </p:nvSpPr>
        <p:spPr>
          <a:xfrm>
            <a:off x="609600" y="5581650"/>
            <a:ext cx="10972800" cy="333375"/>
          </a:xfrm>
          <a:prstGeom prst="rect">
            <a:avLst/>
          </a:prstGeom>
          <a:noFill/>
          <a:ln w="0">
            <a:noFill/>
            <a:prstDash val="solid"/>
          </a:ln>
        </p:spPr>
        <p:txBody>
          <a:bodyPr wrap="square" lIns="0" tIns="0" rIns="0" bIns="0" anchor="t">
            <a:noAutofit/>
          </a:bodyPr>
          <a:lstStyle>
            <a:defPPr>
              <a:defRPr sz="1725" b="1">
                <a:solidFill>
                  <a:srgbClr val="FFFFFF"/>
                </a:solidFill>
                <a:latin typeface="DejaVu Sans"/>
                <a:ea typeface="DejaVu Sans"/>
                <a:cs typeface="DejaVu Sans"/>
              </a:defRPr>
            </a:defPPr>
            <a:lvl1pPr>
              <a:defRPr sz="1725" b="1">
                <a:solidFill>
                  <a:srgbClr val="FFFFFF"/>
                </a:solidFill>
                <a:latin typeface="DejaVu Sans"/>
                <a:ea typeface="DejaVu Sans"/>
                <a:cs typeface="DejaVu Sans"/>
              </a:defRPr>
            </a:lvl1pPr>
            <a:lvl2pPr>
              <a:defRPr sz="1725" b="1">
                <a:solidFill>
                  <a:srgbClr val="FFFFFF"/>
                </a:solidFill>
                <a:latin typeface="DejaVu Sans"/>
                <a:ea typeface="DejaVu Sans"/>
                <a:cs typeface="DejaVu Sans"/>
              </a:defRPr>
            </a:lvl2pPr>
            <a:lvl3pPr>
              <a:defRPr sz="1725" b="1">
                <a:solidFill>
                  <a:srgbClr val="FFFFFF"/>
                </a:solidFill>
                <a:latin typeface="DejaVu Sans"/>
                <a:ea typeface="DejaVu Sans"/>
                <a:cs typeface="DejaVu Sans"/>
              </a:defRPr>
            </a:lvl3pPr>
            <a:lvl4pPr>
              <a:defRPr sz="1725" b="1">
                <a:solidFill>
                  <a:srgbClr val="FFFFFF"/>
                </a:solidFill>
                <a:latin typeface="DejaVu Sans"/>
                <a:ea typeface="DejaVu Sans"/>
                <a:cs typeface="DejaVu Sans"/>
              </a:defRPr>
            </a:lvl4pPr>
            <a:lvl5pPr>
              <a:defRPr sz="1725" b="1">
                <a:solidFill>
                  <a:srgbClr val="FFFFFF"/>
                </a:solidFill>
                <a:latin typeface="DejaVu Sans"/>
                <a:ea typeface="DejaVu Sans"/>
                <a:cs typeface="DejaVu Sans"/>
              </a:defRPr>
            </a:lvl5pPr>
            <a:lvl6pPr>
              <a:defRPr sz="1725" b="1">
                <a:solidFill>
                  <a:srgbClr val="FFFFFF"/>
                </a:solidFill>
                <a:latin typeface="DejaVu Sans"/>
                <a:ea typeface="DejaVu Sans"/>
                <a:cs typeface="DejaVu Sans"/>
              </a:defRPr>
            </a:lvl6pPr>
            <a:lvl7pPr>
              <a:defRPr sz="1725" b="1">
                <a:solidFill>
                  <a:srgbClr val="FFFFFF"/>
                </a:solidFill>
                <a:latin typeface="DejaVu Sans"/>
                <a:ea typeface="DejaVu Sans"/>
                <a:cs typeface="DejaVu Sans"/>
              </a:defRPr>
            </a:lvl7pPr>
            <a:lvl8pPr>
              <a:defRPr sz="1725" b="1">
                <a:solidFill>
                  <a:srgbClr val="FFFFFF"/>
                </a:solidFill>
                <a:latin typeface="DejaVu Sans"/>
                <a:ea typeface="DejaVu Sans"/>
                <a:cs typeface="DejaVu Sans"/>
              </a:defRPr>
            </a:lvl8pPr>
            <a:lvl9pPr>
              <a:defRPr sz="1725" b="1">
                <a:solidFill>
                  <a:srgbClr val="FFFFFF"/>
                </a:solidFill>
                <a:latin typeface="DejaVu Sans"/>
                <a:ea typeface="DejaVu Sans"/>
                <a:cs typeface="DejaVu Sans"/>
              </a:defRPr>
            </a:lvl9pPr>
          </a:lstStyle>
          <a:p>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Key point</a:t>
            </a:r>
          </a:p>
        </p:txBody>
      </p:sp>
      <p:sp>
        <p:nvSpPr>
          <p:cNvPr id="8" name="takeaway">
            <a:extLst>
              <a:ext uri="{FF2B5EF4-FFF2-40B4-BE49-F238E27FC236}">
                <a16:creationId xmlns:a16="http://schemas.microsoft.com/office/drawing/2014/main" id="{BFA21310-1CB2-4742-9699-CE8CFA4B9FE3}"/>
              </a:ext>
            </a:extLst>
          </p:cNvPr>
          <p:cNvSpPr>
            <a:spLocks noGrp="1"/>
          </p:cNvSpPr>
          <p:nvPr/>
        </p:nvSpPr>
        <p:spPr>
          <a:xfrm>
            <a:off x="609600" y="5953125"/>
            <a:ext cx="10972800" cy="666750"/>
          </a:xfrm>
          <a:prstGeom prst="rect">
            <a:avLst/>
          </a:prstGeom>
          <a:noFill/>
          <a:ln w="0">
            <a:noFill/>
            <a:prstDash val="solid"/>
          </a:ln>
        </p:spPr>
        <p:txBody>
          <a:bodyPr wrap="square" lIns="0" tIns="0" rIns="0" bIns="0" anchor="t">
            <a:noAutofit/>
          </a:bodyPr>
          <a:lstStyle>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ChatGPT need not retain every exchange. Reusing experience depends on what is saved or available, and old notes can become stale.</a:t>
            </a:r>
          </a:p>
        </p:txBody>
      </p:sp>
    </p:spTree>
    <p:extLst>
      <p:ext uri="{BB962C8B-B14F-4D97-AF65-F5344CB8AC3E}">
        <p14:creationId xmlns:p14="http://schemas.microsoft.com/office/powerpoint/2010/main" val="176747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88017874-AFCB-409D-BB01-292D3123AD08}"/>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Persistent memory in practice</a:t>
            </a:r>
          </a:p>
        </p:txBody>
      </p:sp>
      <p:sp>
        <p:nvSpPr>
          <p:cNvPr id="2" name="definition">
            <a:extLst>
              <a:ext uri="{FF2B5EF4-FFF2-40B4-BE49-F238E27FC236}">
                <a16:creationId xmlns:a16="http://schemas.microsoft.com/office/drawing/2014/main" id="{28CDB70C-F8B2-4E63-8CD5-CAA1FFF5BE12}"/>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The video’s coding example stores reusable project knowledge in a text file</a:t>
            </a:r>
          </a:p>
        </p:txBody>
      </p:sp>
      <p:sp>
        <p:nvSpPr>
          <p:cNvPr id="3" name="file-heading">
            <a:extLst>
              <a:ext uri="{FF2B5EF4-FFF2-40B4-BE49-F238E27FC236}">
                <a16:creationId xmlns:a16="http://schemas.microsoft.com/office/drawing/2014/main" id="{01382A3E-A10F-4DC9-8564-437551AD1B2C}"/>
              </a:ext>
            </a:extLst>
          </p:cNvPr>
          <p:cNvSpPr>
            <a:spLocks noGrp="1"/>
          </p:cNvSpPr>
          <p:nvPr/>
        </p:nvSpPr>
        <p:spPr>
          <a:xfrm>
            <a:off x="609600" y="2333625"/>
            <a:ext cx="641985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What the file contains</a:t>
            </a:r>
          </a:p>
        </p:txBody>
      </p:sp>
      <p:sp>
        <p:nvSpPr>
          <p:cNvPr id="4" name="file-contents">
            <a:extLst>
              <a:ext uri="{FF2B5EF4-FFF2-40B4-BE49-F238E27FC236}">
                <a16:creationId xmlns:a16="http://schemas.microsoft.com/office/drawing/2014/main" id="{E5A59866-EBF0-4A55-AFC9-119D3DD042D2}"/>
              </a:ext>
            </a:extLst>
          </p:cNvPr>
          <p:cNvSpPr>
            <a:spLocks noGrp="1"/>
          </p:cNvSpPr>
          <p:nvPr/>
        </p:nvSpPr>
        <p:spPr>
          <a:xfrm>
            <a:off x="609600" y="2800350"/>
            <a:ext cx="6419850" cy="261937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marL="228600" indent="-114300">
              <a:spcAft>
                <a:spcPts val="1100"/>
              </a:spcAft>
              <a:buChar char="•"/>
              <a:defRPr sz="1950" b="0">
                <a:solidFill>
                  <a:srgbClr val="FFFFFF"/>
                </a:solidFill>
                <a:latin typeface="DejaVu Sans"/>
                <a:ea typeface="DejaVu Sans"/>
                <a:cs typeface="DejaVu Sans"/>
              </a:defRPr>
            </a:pPr>
            <a:r>
              <a:rPr sz="1950" dirty="0">
                <a:solidFill>
                  <a:srgbClr val="FFFFFF"/>
                </a:solidFill>
                <a:latin typeface="DejaVu Sans"/>
                <a:ea typeface="DejaVu Sans"/>
                <a:cs typeface="DejaVu Sans"/>
              </a:rPr>
              <a:t>Project architecture and folder structure, so the agent understands how the code is organized.</a:t>
            </a:r>
          </a:p>
          <a:p>
            <a:pPr marL="228600" indent="-114300">
              <a:spcAft>
                <a:spcPts val="1100"/>
              </a:spcAft>
              <a:buChar char="•"/>
              <a:defRPr sz="1950" b="0">
                <a:solidFill>
                  <a:srgbClr val="FFFFFF"/>
                </a:solidFill>
                <a:latin typeface="DejaVu Sans"/>
                <a:ea typeface="DejaVu Sans"/>
                <a:cs typeface="DejaVu Sans"/>
              </a:defRPr>
            </a:pPr>
            <a:r>
              <a:rPr sz="1950" dirty="0">
                <a:solidFill>
                  <a:srgbClr val="FFFFFF"/>
                </a:solidFill>
                <a:latin typeface="DejaVu Sans"/>
                <a:ea typeface="DejaVu Sans"/>
                <a:cs typeface="DejaVu Sans"/>
              </a:rPr>
              <a:t>Coding conventions, chosen frameworks and rules about what to avoid.</a:t>
            </a:r>
          </a:p>
          <a:p>
            <a:pPr marL="228600" indent="-114300">
              <a:spcAft>
                <a:spcPts val="1100"/>
              </a:spcAft>
              <a:buChar char="•"/>
              <a:defRPr sz="1950" b="0">
                <a:solidFill>
                  <a:srgbClr val="FFFFFF"/>
                </a:solidFill>
                <a:latin typeface="DejaVu Sans"/>
                <a:ea typeface="DejaVu Sans"/>
                <a:cs typeface="DejaVu Sans"/>
              </a:defRPr>
            </a:pPr>
            <a:r>
              <a:rPr sz="1950" dirty="0">
                <a:solidFill>
                  <a:srgbClr val="FFFFFF"/>
                </a:solidFill>
                <a:latin typeface="DejaVu Sans"/>
                <a:ea typeface="DejaVu Sans"/>
                <a:cs typeface="DejaVu Sans"/>
              </a:rPr>
              <a:t>Build commands that explain how to prepare and run the project.</a:t>
            </a:r>
          </a:p>
        </p:txBody>
      </p:sp>
      <p:sp>
        <p:nvSpPr>
          <p:cNvPr id="5" name="use-heading">
            <a:extLst>
              <a:ext uri="{FF2B5EF4-FFF2-40B4-BE49-F238E27FC236}">
                <a16:creationId xmlns:a16="http://schemas.microsoft.com/office/drawing/2014/main" id="{98E29EFF-7143-4412-AC17-39A30EF350E6}"/>
              </a:ext>
            </a:extLst>
          </p:cNvPr>
          <p:cNvSpPr>
            <a:spLocks noGrp="1"/>
          </p:cNvSpPr>
          <p:nvPr/>
        </p:nvSpPr>
        <p:spPr>
          <a:xfrm>
            <a:off x="7734300" y="2333625"/>
            <a:ext cx="3848100" cy="381000"/>
          </a:xfrm>
          <a:prstGeom prst="rect">
            <a:avLst/>
          </a:prstGeom>
          <a:noFill/>
          <a:ln w="0">
            <a:noFill/>
            <a:prstDash val="solid"/>
          </a:ln>
        </p:spPr>
        <p:txBody>
          <a:bodyPr wrap="square" lIns="0" tIns="0" rIns="0" bIns="0" anchor="t">
            <a:noAutofit/>
          </a:bodyPr>
          <a:lstStyle>
            <a:defPPr>
              <a:defRPr sz="1875" b="1">
                <a:solidFill>
                  <a:srgbClr val="FFFFFF"/>
                </a:solidFill>
                <a:latin typeface="DejaVu Sans"/>
                <a:ea typeface="DejaVu Sans"/>
                <a:cs typeface="DejaVu Sans"/>
              </a:defRPr>
            </a:defPPr>
            <a:lvl1pPr>
              <a:defRPr sz="1875" b="1">
                <a:solidFill>
                  <a:srgbClr val="FFFFFF"/>
                </a:solidFill>
                <a:latin typeface="DejaVu Sans"/>
                <a:ea typeface="DejaVu Sans"/>
                <a:cs typeface="DejaVu Sans"/>
              </a:defRPr>
            </a:lvl1pPr>
            <a:lvl2pPr>
              <a:defRPr sz="1875" b="1">
                <a:solidFill>
                  <a:srgbClr val="FFFFFF"/>
                </a:solidFill>
                <a:latin typeface="DejaVu Sans"/>
                <a:ea typeface="DejaVu Sans"/>
                <a:cs typeface="DejaVu Sans"/>
              </a:defRPr>
            </a:lvl2pPr>
            <a:lvl3pPr>
              <a:defRPr sz="1875" b="1">
                <a:solidFill>
                  <a:srgbClr val="FFFFFF"/>
                </a:solidFill>
                <a:latin typeface="DejaVu Sans"/>
                <a:ea typeface="DejaVu Sans"/>
                <a:cs typeface="DejaVu Sans"/>
              </a:defRPr>
            </a:lvl3pPr>
            <a:lvl4pPr>
              <a:defRPr sz="1875" b="1">
                <a:solidFill>
                  <a:srgbClr val="FFFFFF"/>
                </a:solidFill>
                <a:latin typeface="DejaVu Sans"/>
                <a:ea typeface="DejaVu Sans"/>
                <a:cs typeface="DejaVu Sans"/>
              </a:defRPr>
            </a:lvl4pPr>
            <a:lvl5pPr>
              <a:defRPr sz="1875" b="1">
                <a:solidFill>
                  <a:srgbClr val="FFFFFF"/>
                </a:solidFill>
                <a:latin typeface="DejaVu Sans"/>
                <a:ea typeface="DejaVu Sans"/>
                <a:cs typeface="DejaVu Sans"/>
              </a:defRPr>
            </a:lvl5pPr>
            <a:lvl6pPr>
              <a:defRPr sz="1875" b="1">
                <a:solidFill>
                  <a:srgbClr val="FFFFFF"/>
                </a:solidFill>
                <a:latin typeface="DejaVu Sans"/>
                <a:ea typeface="DejaVu Sans"/>
                <a:cs typeface="DejaVu Sans"/>
              </a:defRPr>
            </a:lvl6pPr>
            <a:lvl7pPr>
              <a:defRPr sz="1875" b="1">
                <a:solidFill>
                  <a:srgbClr val="FFFFFF"/>
                </a:solidFill>
                <a:latin typeface="DejaVu Sans"/>
                <a:ea typeface="DejaVu Sans"/>
                <a:cs typeface="DejaVu Sans"/>
              </a:defRPr>
            </a:lvl7pPr>
            <a:lvl8pPr>
              <a:defRPr sz="1875" b="1">
                <a:solidFill>
                  <a:srgbClr val="FFFFFF"/>
                </a:solidFill>
                <a:latin typeface="DejaVu Sans"/>
                <a:ea typeface="DejaVu Sans"/>
                <a:cs typeface="DejaVu Sans"/>
              </a:defRPr>
            </a:lvl8pPr>
            <a:lvl9pPr>
              <a:defRPr sz="1875" b="1">
                <a:solidFill>
                  <a:srgbClr val="FFFFFF"/>
                </a:solidFill>
                <a:latin typeface="DejaVu Sans"/>
                <a:ea typeface="DejaVu Sans"/>
                <a:cs typeface="DejaVu Sans"/>
              </a:defRPr>
            </a:lvl9p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How it gets used</a:t>
            </a:r>
          </a:p>
        </p:txBody>
      </p:sp>
      <p:sp>
        <p:nvSpPr>
          <p:cNvPr id="6" name="use">
            <a:extLst>
              <a:ext uri="{FF2B5EF4-FFF2-40B4-BE49-F238E27FC236}">
                <a16:creationId xmlns:a16="http://schemas.microsoft.com/office/drawing/2014/main" id="{A1075FF9-8900-4311-A03A-E7346FAFB011}"/>
              </a:ext>
            </a:extLst>
          </p:cNvPr>
          <p:cNvSpPr>
            <a:spLocks noGrp="1"/>
          </p:cNvSpPr>
          <p:nvPr/>
        </p:nvSpPr>
        <p:spPr>
          <a:xfrm>
            <a:off x="7734300" y="2800350"/>
            <a:ext cx="3848100" cy="2638425"/>
          </a:xfrm>
          <a:prstGeom prst="rect">
            <a:avLst/>
          </a:prstGeom>
          <a:noFill/>
          <a:ln w="0">
            <a:noFill/>
            <a:prstDash val="solid"/>
          </a:ln>
        </p:spPr>
        <p:txBody>
          <a:bodyPr wrap="square" lIns="0" tIns="0" rIns="0" bIns="0" anchor="t">
            <a:noAutofit/>
          </a:bodyPr>
          <a:lstStyle>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An agent loads the project file into its context window at the start of a session.</a:t>
            </a:r>
          </a:p>
          <a:p>
            <a:endParaRPr sz="1950" b="0">
              <a:solidFill>
                <a:srgbClr val="FFFFFF"/>
              </a:solidFill>
              <a:latin typeface="DejaVu Sans"/>
              <a:ea typeface="DejaVu Sans"/>
              <a:cs typeface="DejaVu Sans"/>
            </a:endParaRPr>
          </a:p>
          <a:p>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The same file remains available next time, even after that conversation has ended.</a:t>
            </a:r>
          </a:p>
        </p:txBody>
      </p:sp>
      <p:sp>
        <p:nvSpPr>
          <p:cNvPr id="7" name="takeaway-heading">
            <a:extLst>
              <a:ext uri="{FF2B5EF4-FFF2-40B4-BE49-F238E27FC236}">
                <a16:creationId xmlns:a16="http://schemas.microsoft.com/office/drawing/2014/main" id="{C3547ACF-58BD-4F2E-9B5A-9E7D9F3D92FB}"/>
              </a:ext>
            </a:extLst>
          </p:cNvPr>
          <p:cNvSpPr>
            <a:spLocks noGrp="1"/>
          </p:cNvSpPr>
          <p:nvPr/>
        </p:nvSpPr>
        <p:spPr>
          <a:xfrm>
            <a:off x="609600" y="5581650"/>
            <a:ext cx="10972800" cy="333375"/>
          </a:xfrm>
          <a:prstGeom prst="rect">
            <a:avLst/>
          </a:prstGeom>
          <a:noFill/>
          <a:ln w="0">
            <a:noFill/>
            <a:prstDash val="solid"/>
          </a:ln>
        </p:spPr>
        <p:txBody>
          <a:bodyPr wrap="square" lIns="0" tIns="0" rIns="0" bIns="0" anchor="t">
            <a:noAutofit/>
          </a:bodyPr>
          <a:lstStyle>
            <a:defPPr>
              <a:defRPr sz="1725" b="1">
                <a:solidFill>
                  <a:srgbClr val="FFFFFF"/>
                </a:solidFill>
                <a:latin typeface="DejaVu Sans"/>
                <a:ea typeface="DejaVu Sans"/>
                <a:cs typeface="DejaVu Sans"/>
              </a:defRPr>
            </a:defPPr>
            <a:lvl1pPr>
              <a:defRPr sz="1725" b="1">
                <a:solidFill>
                  <a:srgbClr val="FFFFFF"/>
                </a:solidFill>
                <a:latin typeface="DejaVu Sans"/>
                <a:ea typeface="DejaVu Sans"/>
                <a:cs typeface="DejaVu Sans"/>
              </a:defRPr>
            </a:lvl1pPr>
            <a:lvl2pPr>
              <a:defRPr sz="1725" b="1">
                <a:solidFill>
                  <a:srgbClr val="FFFFFF"/>
                </a:solidFill>
                <a:latin typeface="DejaVu Sans"/>
                <a:ea typeface="DejaVu Sans"/>
                <a:cs typeface="DejaVu Sans"/>
              </a:defRPr>
            </a:lvl2pPr>
            <a:lvl3pPr>
              <a:defRPr sz="1725" b="1">
                <a:solidFill>
                  <a:srgbClr val="FFFFFF"/>
                </a:solidFill>
                <a:latin typeface="DejaVu Sans"/>
                <a:ea typeface="DejaVu Sans"/>
                <a:cs typeface="DejaVu Sans"/>
              </a:defRPr>
            </a:lvl3pPr>
            <a:lvl4pPr>
              <a:defRPr sz="1725" b="1">
                <a:solidFill>
                  <a:srgbClr val="FFFFFF"/>
                </a:solidFill>
                <a:latin typeface="DejaVu Sans"/>
                <a:ea typeface="DejaVu Sans"/>
                <a:cs typeface="DejaVu Sans"/>
              </a:defRPr>
            </a:lvl4pPr>
            <a:lvl5pPr>
              <a:defRPr sz="1725" b="1">
                <a:solidFill>
                  <a:srgbClr val="FFFFFF"/>
                </a:solidFill>
                <a:latin typeface="DejaVu Sans"/>
                <a:ea typeface="DejaVu Sans"/>
                <a:cs typeface="DejaVu Sans"/>
              </a:defRPr>
            </a:lvl5pPr>
            <a:lvl6pPr>
              <a:defRPr sz="1725" b="1">
                <a:solidFill>
                  <a:srgbClr val="FFFFFF"/>
                </a:solidFill>
                <a:latin typeface="DejaVu Sans"/>
                <a:ea typeface="DejaVu Sans"/>
                <a:cs typeface="DejaVu Sans"/>
              </a:defRPr>
            </a:lvl6pPr>
            <a:lvl7pPr>
              <a:defRPr sz="1725" b="1">
                <a:solidFill>
                  <a:srgbClr val="FFFFFF"/>
                </a:solidFill>
                <a:latin typeface="DejaVu Sans"/>
                <a:ea typeface="DejaVu Sans"/>
                <a:cs typeface="DejaVu Sans"/>
              </a:defRPr>
            </a:lvl7pPr>
            <a:lvl8pPr>
              <a:defRPr sz="1725" b="1">
                <a:solidFill>
                  <a:srgbClr val="FFFFFF"/>
                </a:solidFill>
                <a:latin typeface="DejaVu Sans"/>
                <a:ea typeface="DejaVu Sans"/>
                <a:cs typeface="DejaVu Sans"/>
              </a:defRPr>
            </a:lvl8pPr>
            <a:lvl9pPr>
              <a:defRPr sz="1725" b="1">
                <a:solidFill>
                  <a:srgbClr val="FFFFFF"/>
                </a:solidFill>
                <a:latin typeface="DejaVu Sans"/>
                <a:ea typeface="DejaVu Sans"/>
                <a:cs typeface="DejaVu Sans"/>
              </a:defRPr>
            </a:lvl9pPr>
          </a:lstStyle>
          <a:p>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Storage can be simple</a:t>
            </a:r>
          </a:p>
        </p:txBody>
      </p:sp>
      <p:sp>
        <p:nvSpPr>
          <p:cNvPr id="8" name="takeaway">
            <a:extLst>
              <a:ext uri="{FF2B5EF4-FFF2-40B4-BE49-F238E27FC236}">
                <a16:creationId xmlns:a16="http://schemas.microsoft.com/office/drawing/2014/main" id="{D71F4848-743D-4E9C-94DA-96DC7404AD62}"/>
              </a:ext>
            </a:extLst>
          </p:cNvPr>
          <p:cNvSpPr>
            <a:spLocks noGrp="1"/>
          </p:cNvSpPr>
          <p:nvPr/>
        </p:nvSpPr>
        <p:spPr>
          <a:xfrm>
            <a:off x="609600" y="5953125"/>
            <a:ext cx="10972800" cy="666750"/>
          </a:xfrm>
          <a:prstGeom prst="rect">
            <a:avLst/>
          </a:prstGeom>
          <a:noFill/>
          <a:ln w="0">
            <a:noFill/>
            <a:prstDash val="solid"/>
          </a:ln>
        </p:spPr>
        <p:txBody>
          <a:bodyPr wrap="square" lIns="0" tIns="0" rIns="0" bIns="0" anchor="t">
            <a:noAutofit/>
          </a:bodyPr>
          <a:lstStyle>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Vector databases and knowledge graphs are other options mentioned in the video. A readable Markdown file can also provide persistent knowledge.</a:t>
            </a:r>
          </a:p>
        </p:txBody>
      </p:sp>
    </p:spTree>
    <p:extLst>
      <p:ext uri="{BB962C8B-B14F-4D97-AF65-F5344CB8AC3E}">
        <p14:creationId xmlns:p14="http://schemas.microsoft.com/office/powerpoint/2010/main" val="1583909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E6F6FEB-F2EA-4181-A926-7665F27F4CAD}"/>
              </a:ext>
            </a:extLst>
          </p:cNvPr>
          <p:cNvSpPr>
            <a:spLocks noGrp="1"/>
          </p:cNvSpPr>
          <p:nvPr/>
        </p:nvSpPr>
        <p:spPr>
          <a:xfrm>
            <a:off x="609600" y="409575"/>
            <a:ext cx="10972800" cy="695325"/>
          </a:xfrm>
          <a:prstGeom prst="rect">
            <a:avLst/>
          </a:prstGeom>
          <a:noFill/>
          <a:ln w="0">
            <a:noFill/>
            <a:prstDash val="solid"/>
          </a:ln>
        </p:spPr>
        <p:txBody>
          <a:bodyPr wrap="square" lIns="0" tIns="0" rIns="0" bIns="0" anchor="t">
            <a:noAutofit/>
          </a:bodyPr>
          <a:lstStyle>
            <a:defPPr>
              <a:defRPr sz="3600" b="1">
                <a:solidFill>
                  <a:srgbClr val="FFFFFF"/>
                </a:solidFill>
                <a:latin typeface="DejaVu Sans"/>
                <a:ea typeface="DejaVu Sans"/>
                <a:cs typeface="DejaVu Sans"/>
              </a:defRPr>
            </a:defPPr>
            <a:lvl1pPr>
              <a:defRPr sz="3600" b="1">
                <a:solidFill>
                  <a:srgbClr val="FFFFFF"/>
                </a:solidFill>
                <a:latin typeface="DejaVu Sans"/>
                <a:ea typeface="DejaVu Sans"/>
                <a:cs typeface="DejaVu Sans"/>
              </a:defRPr>
            </a:lvl1pPr>
            <a:lvl2pPr>
              <a:defRPr sz="3600" b="1">
                <a:solidFill>
                  <a:srgbClr val="FFFFFF"/>
                </a:solidFill>
                <a:latin typeface="DejaVu Sans"/>
                <a:ea typeface="DejaVu Sans"/>
                <a:cs typeface="DejaVu Sans"/>
              </a:defRPr>
            </a:lvl2pPr>
            <a:lvl3pPr>
              <a:defRPr sz="3600" b="1">
                <a:solidFill>
                  <a:srgbClr val="FFFFFF"/>
                </a:solidFill>
                <a:latin typeface="DejaVu Sans"/>
                <a:ea typeface="DejaVu Sans"/>
                <a:cs typeface="DejaVu Sans"/>
              </a:defRPr>
            </a:lvl3pPr>
            <a:lvl4pPr>
              <a:defRPr sz="3600" b="1">
                <a:solidFill>
                  <a:srgbClr val="FFFFFF"/>
                </a:solidFill>
                <a:latin typeface="DejaVu Sans"/>
                <a:ea typeface="DejaVu Sans"/>
                <a:cs typeface="DejaVu Sans"/>
              </a:defRPr>
            </a:lvl4pPr>
            <a:lvl5pPr>
              <a:defRPr sz="3600" b="1">
                <a:solidFill>
                  <a:srgbClr val="FFFFFF"/>
                </a:solidFill>
                <a:latin typeface="DejaVu Sans"/>
                <a:ea typeface="DejaVu Sans"/>
                <a:cs typeface="DejaVu Sans"/>
              </a:defRPr>
            </a:lvl5pPr>
            <a:lvl6pPr>
              <a:defRPr sz="3600" b="1">
                <a:solidFill>
                  <a:srgbClr val="FFFFFF"/>
                </a:solidFill>
                <a:latin typeface="DejaVu Sans"/>
                <a:ea typeface="DejaVu Sans"/>
                <a:cs typeface="DejaVu Sans"/>
              </a:defRPr>
            </a:lvl6pPr>
            <a:lvl7pPr>
              <a:defRPr sz="3600" b="1">
                <a:solidFill>
                  <a:srgbClr val="FFFFFF"/>
                </a:solidFill>
                <a:latin typeface="DejaVu Sans"/>
                <a:ea typeface="DejaVu Sans"/>
                <a:cs typeface="DejaVu Sans"/>
              </a:defRPr>
            </a:lvl7pPr>
            <a:lvl8pPr>
              <a:defRPr sz="3600" b="1">
                <a:solidFill>
                  <a:srgbClr val="FFFFFF"/>
                </a:solidFill>
                <a:latin typeface="DejaVu Sans"/>
                <a:ea typeface="DejaVu Sans"/>
                <a:cs typeface="DejaVu Sans"/>
              </a:defRPr>
            </a:lvl8pPr>
            <a:lvl9pPr>
              <a:defRPr sz="3600" b="1">
                <a:solidFill>
                  <a:srgbClr val="FFFFFF"/>
                </a:solidFill>
                <a:latin typeface="DejaVu Sans"/>
                <a:ea typeface="DejaVu Sans"/>
                <a:cs typeface="DejaVu Sans"/>
              </a:defRPr>
            </a:lvl9pPr>
          </a:lstStyle>
          <a:p>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Memory needs depend on the task</a:t>
            </a:r>
          </a:p>
        </p:txBody>
      </p:sp>
      <p:sp>
        <p:nvSpPr>
          <p:cNvPr id="2" name="definition">
            <a:extLst>
              <a:ext uri="{FF2B5EF4-FFF2-40B4-BE49-F238E27FC236}">
                <a16:creationId xmlns:a16="http://schemas.microsoft.com/office/drawing/2014/main" id="{27D37D53-6175-4F72-8109-95AE94EB3349}"/>
              </a:ext>
            </a:extLst>
          </p:cNvPr>
          <p:cNvSpPr>
            <a:spLocks noGrp="1"/>
          </p:cNvSpPr>
          <p:nvPr/>
        </p:nvSpPr>
        <p:spPr>
          <a:xfrm>
            <a:off x="609600" y="1323975"/>
            <a:ext cx="10972800" cy="800100"/>
          </a:xfrm>
          <a:prstGeom prst="rect">
            <a:avLst/>
          </a:prstGeom>
          <a:noFill/>
          <a:ln w="0">
            <a:noFill/>
            <a:prstDash val="solid"/>
          </a:ln>
        </p:spPr>
        <p:txBody>
          <a:bodyPr wrap="square" lIns="0" tIns="0" rIns="0" bIns="0" anchor="t">
            <a:noAutofit/>
          </a:bodyPr>
          <a:lstStyle>
            <a:defPPr>
              <a:defRPr sz="2325" b="1">
                <a:solidFill>
                  <a:srgbClr val="FFFFFF"/>
                </a:solidFill>
                <a:latin typeface="DejaVu Sans"/>
                <a:ea typeface="DejaVu Sans"/>
                <a:cs typeface="DejaVu Sans"/>
              </a:defRPr>
            </a:defPPr>
            <a:lvl1pPr>
              <a:defRPr sz="2325" b="1">
                <a:solidFill>
                  <a:srgbClr val="FFFFFF"/>
                </a:solidFill>
                <a:latin typeface="DejaVu Sans"/>
                <a:ea typeface="DejaVu Sans"/>
                <a:cs typeface="DejaVu Sans"/>
              </a:defRPr>
            </a:lvl1pPr>
            <a:lvl2pPr>
              <a:defRPr sz="2325" b="1">
                <a:solidFill>
                  <a:srgbClr val="FFFFFF"/>
                </a:solidFill>
                <a:latin typeface="DejaVu Sans"/>
                <a:ea typeface="DejaVu Sans"/>
                <a:cs typeface="DejaVu Sans"/>
              </a:defRPr>
            </a:lvl2pPr>
            <a:lvl3pPr>
              <a:defRPr sz="2325" b="1">
                <a:solidFill>
                  <a:srgbClr val="FFFFFF"/>
                </a:solidFill>
                <a:latin typeface="DejaVu Sans"/>
                <a:ea typeface="DejaVu Sans"/>
                <a:cs typeface="DejaVu Sans"/>
              </a:defRPr>
            </a:lvl3pPr>
            <a:lvl4pPr>
              <a:defRPr sz="2325" b="1">
                <a:solidFill>
                  <a:srgbClr val="FFFFFF"/>
                </a:solidFill>
                <a:latin typeface="DejaVu Sans"/>
                <a:ea typeface="DejaVu Sans"/>
                <a:cs typeface="DejaVu Sans"/>
              </a:defRPr>
            </a:lvl4pPr>
            <a:lvl5pPr>
              <a:defRPr sz="2325" b="1">
                <a:solidFill>
                  <a:srgbClr val="FFFFFF"/>
                </a:solidFill>
                <a:latin typeface="DejaVu Sans"/>
                <a:ea typeface="DejaVu Sans"/>
                <a:cs typeface="DejaVu Sans"/>
              </a:defRPr>
            </a:lvl5pPr>
            <a:lvl6pPr>
              <a:defRPr sz="2325" b="1">
                <a:solidFill>
                  <a:srgbClr val="FFFFFF"/>
                </a:solidFill>
                <a:latin typeface="DejaVu Sans"/>
                <a:ea typeface="DejaVu Sans"/>
                <a:cs typeface="DejaVu Sans"/>
              </a:defRPr>
            </a:lvl6pPr>
            <a:lvl7pPr>
              <a:defRPr sz="2325" b="1">
                <a:solidFill>
                  <a:srgbClr val="FFFFFF"/>
                </a:solidFill>
                <a:latin typeface="DejaVu Sans"/>
                <a:ea typeface="DejaVu Sans"/>
                <a:cs typeface="DejaVu Sans"/>
              </a:defRPr>
            </a:lvl7pPr>
            <a:lvl8pPr>
              <a:defRPr sz="2325" b="1">
                <a:solidFill>
                  <a:srgbClr val="FFFFFF"/>
                </a:solidFill>
                <a:latin typeface="DejaVu Sans"/>
                <a:ea typeface="DejaVu Sans"/>
                <a:cs typeface="DejaVu Sans"/>
              </a:defRPr>
            </a:lvl8pPr>
            <a:lvl9pPr>
              <a:defRPr sz="2325" b="1">
                <a:solidFill>
                  <a:srgbClr val="FFFFFF"/>
                </a:solidFill>
                <a:latin typeface="DejaVu Sans"/>
                <a:ea typeface="DejaVu Sans"/>
                <a:cs typeface="DejaVu Sans"/>
              </a:defRPr>
            </a:lvl9pPr>
          </a:lstStyle>
          <a:p>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The video compares three agents with different needs</a:t>
            </a:r>
          </a:p>
        </p:txBody>
      </p:sp>
      <p:graphicFrame>
        <p:nvGraphicFramePr>
          <p:cNvPr id="3" name="Table 2">
            <a:extLst>
              <a:ext uri="{FF2B5EF4-FFF2-40B4-BE49-F238E27FC236}">
                <a16:creationId xmlns:a16="http://schemas.microsoft.com/office/drawing/2014/main" id="{2E841593-E36B-4ACC-98C3-DE827580643D}"/>
              </a:ext>
            </a:extLst>
          </p:cNvPr>
          <p:cNvGraphicFramePr/>
          <p:nvPr/>
        </p:nvGraphicFramePr>
        <p:xfrm>
          <a:off x="609600" y="2286000"/>
          <a:ext cx="10972800" cy="3371850"/>
        </p:xfrm>
        <a:graphic>
          <a:graphicData uri="http://schemas.openxmlformats.org/drawingml/2006/table">
            <a:tbl>
              <a:tblPr/>
              <a:tblGrid>
                <a:gridCol w="28575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514350">
                <a:tc>
                  <a:txBody>
                    <a:bodyPr/>
                    <a:lstStyle/>
                    <a:p>
                      <a:r>
                        <a:rPr sz="1800" b="1">
                          <a:solidFill>
                            <a:srgbClr val="FFFFFF"/>
                          </a:solidFill>
                          <a:latin typeface="DejaVu Sans"/>
                          <a:ea typeface="DejaVu Sans"/>
                          <a:cs typeface="DejaVu Sans"/>
                        </a:rPr>
                        <a:t>Agent</a:t>
                      </a:r>
                    </a:p>
                  </a:txBody>
                  <a:tcPr marL="114300" marR="114300" marT="76200" marB="76200" anchor="ctr">
                    <a:lnL w="5715">
                      <a:solidFill>
                        <a:srgbClr val="FFFFFF"/>
                      </a:solidFill>
                      <a:prstDash val="solid"/>
                    </a:lnL>
                    <a:lnR w="5715">
                      <a:solidFill>
                        <a:srgbClr val="FFFFFF"/>
                      </a:solidFill>
                      <a:prstDash val="solid"/>
                    </a:lnR>
                    <a:lnT w="5715">
                      <a:solidFill>
                        <a:srgbClr val="FFFFFF"/>
                      </a:solidFill>
                      <a:prstDash val="solid"/>
                    </a:lnT>
                    <a:lnB w="5715">
                      <a:solidFill>
                        <a:srgbClr val="FFFFFF"/>
                      </a:solidFill>
                      <a:prstDash val="solid"/>
                    </a:lnB>
                    <a:solidFill>
                      <a:srgbClr val="000000"/>
                    </a:solidFill>
                  </a:tcPr>
                </a:tc>
                <a:tc>
                  <a:txBody>
                    <a:bodyPr/>
                    <a:lstStyle/>
                    <a:p>
                      <a:r>
                        <a:rPr sz="1800" b="1">
                          <a:solidFill>
                            <a:srgbClr val="FFFFFF"/>
                          </a:solidFill>
                          <a:latin typeface="DejaVu Sans"/>
                          <a:ea typeface="DejaVu Sans"/>
                          <a:cs typeface="DejaVu Sans"/>
                        </a:rPr>
                        <a:t>Memory it may need</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a:solidFill>
                        <a:srgbClr val="FFFFFF"/>
                      </a:solidFill>
                      <a:prstDash val="solid"/>
                    </a:lnT>
                    <a:lnB w="5715">
                      <a:solidFill>
                        <a:srgbClr val="FFFFFF"/>
                      </a:solidFill>
                      <a:prstDash val="solid"/>
                    </a:lnB>
                    <a:solidFill>
                      <a:srgbClr val="000000"/>
                    </a:solidFill>
                  </a:tcPr>
                </a:tc>
                <a:tc>
                  <a:txBody>
                    <a:bodyPr/>
                    <a:lstStyle/>
                    <a:p>
                      <a:r>
                        <a:rPr sz="1800" b="1">
                          <a:solidFill>
                            <a:srgbClr val="FFFFFF"/>
                          </a:solidFill>
                          <a:latin typeface="DejaVu Sans"/>
                          <a:ea typeface="DejaVu Sans"/>
                          <a:cs typeface="DejaVu Sans"/>
                        </a:rPr>
                        <a:t>Reason</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a:solidFill>
                        <a:srgbClr val="FFFFFF"/>
                      </a:solidFill>
                      <a:prstDash val="solid"/>
                    </a:lnT>
                    <a:lnB w="5715">
                      <a:solidFill>
                        <a:srgbClr val="FFFFFF"/>
                      </a:solidFill>
                      <a:prstDash val="solid"/>
                    </a:lnB>
                    <a:solidFill>
                      <a:srgbClr val="000000"/>
                    </a:solidFill>
                  </a:tcPr>
                </a:tc>
                <a:extLst>
                  <a:ext uri="{0D108BD9-81ED-4DB2-BD59-A6C34878D82A}">
                    <a16:rowId xmlns:a16="http://schemas.microsoft.com/office/drawing/2014/main" val="10000"/>
                  </a:ext>
                </a:extLst>
              </a:tr>
              <a:tr h="952500">
                <a:tc>
                  <a:txBody>
                    <a:bodyPr/>
                    <a:lstStyle/>
                    <a:p>
                      <a:r>
                        <a:rPr sz="1763" b="1">
                          <a:solidFill>
                            <a:srgbClr val="FFFFFF"/>
                          </a:solidFill>
                          <a:latin typeface="DejaVu Sans"/>
                          <a:ea typeface="DejaVu Sans"/>
                          <a:cs typeface="DejaVu Sans"/>
                        </a:rPr>
                        <a:t>Simple routing agent</a:t>
                      </a:r>
                    </a:p>
                  </a:txBody>
                  <a:tcPr marL="114300" marR="114300" marT="76200" marB="76200" anchor="ctr">
                    <a:lnL w="5715">
                      <a:solidFill>
                        <a:srgbClr val="FFFFFF"/>
                      </a:solidFill>
                      <a:prstDash val="soli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tc>
                  <a:txBody>
                    <a:bodyPr/>
                    <a:lstStyle/>
                    <a:p>
                      <a:r>
                        <a:rPr sz="1763" b="0">
                          <a:solidFill>
                            <a:srgbClr val="FFFFFF"/>
                          </a:solidFill>
                          <a:latin typeface="DejaVu Sans"/>
                          <a:ea typeface="DejaVu Sans"/>
                          <a:cs typeface="DejaVu Sans"/>
                        </a:rPr>
                        <a:t>Working</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tc>
                  <a:txBody>
                    <a:bodyPr/>
                    <a:lstStyle/>
                    <a:p>
                      <a:r>
                        <a:rPr sz="1763" b="0">
                          <a:solidFill>
                            <a:srgbClr val="FFFFFF"/>
                          </a:solidFill>
                          <a:latin typeface="DejaVu Sans"/>
                          <a:ea typeface="DejaVu Sans"/>
                          <a:cs typeface="DejaVu Sans"/>
                        </a:rPr>
                        <a:t>Decides where the current input should go</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extLst>
                  <a:ext uri="{0D108BD9-81ED-4DB2-BD59-A6C34878D82A}">
                    <a16:rowId xmlns:a16="http://schemas.microsoft.com/office/drawing/2014/main" val="10001"/>
                  </a:ext>
                </a:extLst>
              </a:tr>
              <a:tr h="952500">
                <a:tc>
                  <a:txBody>
                    <a:bodyPr/>
                    <a:lstStyle/>
                    <a:p>
                      <a:r>
                        <a:rPr sz="1763" b="1">
                          <a:solidFill>
                            <a:srgbClr val="FFFFFF"/>
                          </a:solidFill>
                          <a:latin typeface="DejaVu Sans"/>
                          <a:ea typeface="DejaVu Sans"/>
                          <a:cs typeface="DejaVu Sans"/>
                        </a:rPr>
                        <a:t>Password-reset agent</a:t>
                      </a:r>
                    </a:p>
                  </a:txBody>
                  <a:tcPr marL="114300" marR="114300" marT="76200" marB="76200" anchor="ctr">
                    <a:lnL w="5715">
                      <a:solidFill>
                        <a:srgbClr val="FFFFFF"/>
                      </a:solidFill>
                      <a:prstDash val="soli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tc>
                  <a:txBody>
                    <a:bodyPr/>
                    <a:lstStyle/>
                    <a:p>
                      <a:r>
                        <a:rPr sz="1763" b="0">
                          <a:solidFill>
                            <a:srgbClr val="FFFFFF"/>
                          </a:solidFill>
                          <a:latin typeface="DejaVu Sans"/>
                          <a:ea typeface="DejaVu Sans"/>
                          <a:cs typeface="DejaVu Sans"/>
                        </a:rPr>
                        <a:t>Working and procedural</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tc>
                  <a:txBody>
                    <a:bodyPr/>
                    <a:lstStyle/>
                    <a:p>
                      <a:r>
                        <a:rPr sz="1763" b="0">
                          <a:solidFill>
                            <a:srgbClr val="FFFFFF"/>
                          </a:solidFill>
                          <a:latin typeface="DejaVu Sans"/>
                          <a:ea typeface="DejaVu Sans"/>
                          <a:cs typeface="DejaVu Sans"/>
                        </a:rPr>
                        <a:t>Uses the request and a defined reset procedure</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extLst>
                  <a:ext uri="{0D108BD9-81ED-4DB2-BD59-A6C34878D82A}">
                    <a16:rowId xmlns:a16="http://schemas.microsoft.com/office/drawing/2014/main" val="10002"/>
                  </a:ext>
                </a:extLst>
              </a:tr>
              <a:tr h="952500">
                <a:tc>
                  <a:txBody>
                    <a:bodyPr/>
                    <a:lstStyle/>
                    <a:p>
                      <a:r>
                        <a:rPr sz="1763" b="1">
                          <a:solidFill>
                            <a:srgbClr val="FFFFFF"/>
                          </a:solidFill>
                          <a:latin typeface="DejaVu Sans"/>
                          <a:ea typeface="DejaVu Sans"/>
                          <a:cs typeface="DejaVu Sans"/>
                        </a:rPr>
                        <a:t>Coding agent</a:t>
                      </a:r>
                    </a:p>
                  </a:txBody>
                  <a:tcPr marL="114300" marR="114300" marT="76200" marB="76200" anchor="ctr">
                    <a:lnL w="5715">
                      <a:solidFill>
                        <a:srgbClr val="FFFFFF"/>
                      </a:solidFill>
                      <a:prstDash val="soli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tc>
                  <a:txBody>
                    <a:bodyPr/>
                    <a:lstStyle/>
                    <a:p>
                      <a:r>
                        <a:rPr sz="1763" b="0">
                          <a:solidFill>
                            <a:srgbClr val="FFFFFF"/>
                          </a:solidFill>
                          <a:latin typeface="DejaVu Sans"/>
                          <a:ea typeface="DejaVu Sans"/>
                          <a:cs typeface="DejaVu Sans"/>
                        </a:rPr>
                        <a:t>All four</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tc>
                  <a:txBody>
                    <a:bodyPr/>
                    <a:lstStyle/>
                    <a:p>
                      <a:r>
                        <a:rPr sz="1763" b="0">
                          <a:solidFill>
                            <a:srgbClr val="FFFFFF"/>
                          </a:solidFill>
                          <a:latin typeface="DejaVu Sans"/>
                          <a:ea typeface="DejaVu Sans"/>
                          <a:cs typeface="DejaVu Sans"/>
                        </a:rPr>
                        <a:t>Uses project knowledge, skills and earlier experience</a:t>
                      </a:r>
                    </a:p>
                  </a:txBody>
                  <a:tcPr marL="114300" marR="114300" marT="76200" marB="76200" anchor="ctr">
                    <a:lnL w="5715" cap="flat" cmpd="sng" algn="ctr">
                      <a:solidFill>
                        <a:srgbClr val="FFFFFF"/>
                      </a:solidFill>
                      <a:prstDash val="solid"/>
                      <a:round/>
                      <a:headEnd type="none" w="med" len="med"/>
                      <a:tailEnd type="none" w="med" len="med"/>
                    </a:lnL>
                    <a:lnR w="5715">
                      <a:solidFill>
                        <a:srgbClr val="FFFFFF"/>
                      </a:solidFill>
                      <a:prstDash val="solid"/>
                    </a:lnR>
                    <a:lnT w="5715" cap="flat" cmpd="sng" algn="ctr">
                      <a:solidFill>
                        <a:srgbClr val="FFFFFF"/>
                      </a:solidFill>
                      <a:prstDash val="solid"/>
                      <a:round/>
                      <a:headEnd type="none" w="med" len="med"/>
                      <a:tailEnd type="none" w="med" len="med"/>
                    </a:lnT>
                    <a:lnB w="5715">
                      <a:solidFill>
                        <a:srgbClr val="FFFFFF"/>
                      </a:solidFill>
                      <a:prstDash val="solid"/>
                    </a:lnB>
                    <a:solidFill>
                      <a:srgbClr val="000000"/>
                    </a:solidFill>
                  </a:tcPr>
                </a:tc>
                <a:extLst>
                  <a:ext uri="{0D108BD9-81ED-4DB2-BD59-A6C34878D82A}">
                    <a16:rowId xmlns:a16="http://schemas.microsoft.com/office/drawing/2014/main" val="10003"/>
                  </a:ext>
                </a:extLst>
              </a:tr>
            </a:tbl>
          </a:graphicData>
        </a:graphic>
      </p:graphicFrame>
      <p:sp>
        <p:nvSpPr>
          <p:cNvPr id="4" name="takeaway">
            <a:extLst>
              <a:ext uri="{FF2B5EF4-FFF2-40B4-BE49-F238E27FC236}">
                <a16:creationId xmlns:a16="http://schemas.microsoft.com/office/drawing/2014/main" id="{5224B3E7-386B-4CE4-9A90-189C1F390695}"/>
              </a:ext>
            </a:extLst>
          </p:cNvPr>
          <p:cNvSpPr>
            <a:spLocks noGrp="1"/>
          </p:cNvSpPr>
          <p:nvPr/>
        </p:nvSpPr>
        <p:spPr>
          <a:xfrm>
            <a:off x="609600" y="5981700"/>
            <a:ext cx="10972800" cy="685800"/>
          </a:xfrm>
          <a:prstGeom prst="rect">
            <a:avLst/>
          </a:prstGeom>
          <a:noFill/>
          <a:ln w="0">
            <a:noFill/>
            <a:prstDash val="solid"/>
          </a:ln>
        </p:spPr>
        <p:txBody>
          <a:bodyPr wrap="square" lIns="0" tIns="0" rIns="0" bIns="0" anchor="t">
            <a:noAutofit/>
          </a:bodyPr>
          <a:lstStyle>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a:pPr>
              <a:defRPr sz="1875" b="0">
                <a:solidFill>
                  <a:srgbClr val="FFFFFF"/>
                </a:solidFill>
                <a:latin typeface="DejaVu Sans"/>
                <a:ea typeface="DejaVu Sans"/>
                <a:cs typeface="DejaVu Sans"/>
              </a:defRPr>
            </a:pPr>
            <a:r>
              <a:rPr lang="en-US" sz="1875" b="0" dirty="0">
                <a:solidFill>
                  <a:srgbClr val="FFFFFF"/>
                </a:solidFill>
                <a:latin typeface="DejaVu Sans"/>
                <a:ea typeface="DejaVu Sans"/>
                <a:cs typeface="DejaVu Sans"/>
              </a:rPr>
              <a:t>Takeaway: </a:t>
            </a:r>
            <a:r>
              <a:rPr sz="1875" b="0" dirty="0">
                <a:solidFill>
                  <a:srgbClr val="FFFFFF"/>
                </a:solidFill>
                <a:latin typeface="DejaVu Sans"/>
                <a:ea typeface="DejaVu Sans"/>
                <a:cs typeface="DejaVu Sans"/>
              </a:rPr>
              <a:t>The memory setup should fit the </a:t>
            </a:r>
            <a:r>
              <a:rPr lang="en-US" sz="1875" b="0" dirty="0">
                <a:solidFill>
                  <a:srgbClr val="FFFFFF"/>
                </a:solidFill>
                <a:latin typeface="DejaVu Sans"/>
                <a:ea typeface="DejaVu Sans"/>
                <a:cs typeface="DejaVu Sans"/>
              </a:rPr>
              <a:t>tas</a:t>
            </a:r>
            <a:r>
              <a:rPr lang="en-US" dirty="0"/>
              <a:t>k at hand</a:t>
            </a:r>
            <a:r>
              <a:rPr lang="en-US" sz="1875" b="0" dirty="0">
                <a:solidFill>
                  <a:srgbClr val="FFFFFF"/>
                </a:solidFill>
                <a:latin typeface="DejaVu Sans"/>
                <a:ea typeface="DejaVu Sans"/>
                <a:cs typeface="DejaVu Sans"/>
              </a:rPr>
              <a:t>.</a:t>
            </a:r>
            <a:endParaRPr sz="1875" b="0"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3618043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2522</Words>
  <Application>Microsoft Macintosh PowerPoint</Application>
  <DocSecurity>0</DocSecurity>
  <PresentationFormat>Widescreen</PresentationFormat>
  <Paragraphs>174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DejaVu Sans</vt: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Jingyi Shen</cp:lastModifiedBy>
  <cp:revision>7</cp:revision>
  <dcterms:created xsi:type="dcterms:W3CDTF">2026-10-20T00:36:29Z</dcterms:created>
  <dcterms:modified xsi:type="dcterms:W3CDTF">2026-10-20T02:08:35Z</dcterms:modified>
</cp:coreProperties>
</file>